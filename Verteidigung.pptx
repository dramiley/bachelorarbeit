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1" r:id="rId1"/>
  </p:sldMasterIdLst>
  <p:notesMasterIdLst>
    <p:notesMasterId r:id="rId32"/>
  </p:notesMasterIdLst>
  <p:handoutMasterIdLst>
    <p:handoutMasterId r:id="rId33"/>
  </p:handoutMasterIdLst>
  <p:sldIdLst>
    <p:sldId id="256" r:id="rId2"/>
    <p:sldId id="319" r:id="rId3"/>
    <p:sldId id="320" r:id="rId4"/>
    <p:sldId id="321" r:id="rId5"/>
    <p:sldId id="322" r:id="rId6"/>
    <p:sldId id="337" r:id="rId7"/>
    <p:sldId id="325" r:id="rId8"/>
    <p:sldId id="348" r:id="rId9"/>
    <p:sldId id="333" r:id="rId10"/>
    <p:sldId id="344" r:id="rId11"/>
    <p:sldId id="345" r:id="rId12"/>
    <p:sldId id="346" r:id="rId13"/>
    <p:sldId id="347" r:id="rId14"/>
    <p:sldId id="326" r:id="rId15"/>
    <p:sldId id="327" r:id="rId16"/>
    <p:sldId id="343" r:id="rId17"/>
    <p:sldId id="338" r:id="rId18"/>
    <p:sldId id="328" r:id="rId19"/>
    <p:sldId id="330" r:id="rId20"/>
    <p:sldId id="341" r:id="rId21"/>
    <p:sldId id="342" r:id="rId22"/>
    <p:sldId id="339" r:id="rId23"/>
    <p:sldId id="332" r:id="rId24"/>
    <p:sldId id="329" r:id="rId25"/>
    <p:sldId id="331" r:id="rId26"/>
    <p:sldId id="334" r:id="rId27"/>
    <p:sldId id="336" r:id="rId28"/>
    <p:sldId id="335" r:id="rId29"/>
    <p:sldId id="340" r:id="rId30"/>
    <p:sldId id="323" r:id="rId31"/>
  </p:sldIdLst>
  <p:sldSz cx="12192000" cy="6858000"/>
  <p:notesSz cx="6858000" cy="9144000"/>
  <p:embeddedFontLst>
    <p:embeddedFont>
      <p:font typeface="Open Sans" panose="020B0606030504020204" pitchFamily="34" charset="0"/>
      <p:regular r:id="rId34"/>
      <p:bold r:id="rId35"/>
      <p:italic r:id="rId36"/>
      <p:boldItalic r:id="rId37"/>
    </p:embeddedFont>
  </p:embeddedFontLst>
  <p:defaultTextStyle>
    <a:defPPr>
      <a:defRPr lang="de-DE"/>
    </a:defPPr>
    <a:lvl1pPr marL="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1pPr>
    <a:lvl2pPr marL="4114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2pPr>
    <a:lvl3pPr marL="8229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3pPr>
    <a:lvl4pPr marL="12344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4pPr>
    <a:lvl5pPr marL="164592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5pPr>
    <a:lvl6pPr marL="205740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6pPr>
    <a:lvl7pPr marL="24688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7pPr>
    <a:lvl8pPr marL="28803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8pPr>
    <a:lvl9pPr marL="32918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2939B5E8-EF71-43FF-B7B6-C3DB42F2B419}">
          <p14:sldIdLst>
            <p14:sldId id="256"/>
            <p14:sldId id="319"/>
            <p14:sldId id="320"/>
            <p14:sldId id="321"/>
            <p14:sldId id="322"/>
            <p14:sldId id="337"/>
            <p14:sldId id="325"/>
            <p14:sldId id="348"/>
            <p14:sldId id="333"/>
            <p14:sldId id="344"/>
            <p14:sldId id="345"/>
            <p14:sldId id="346"/>
            <p14:sldId id="347"/>
            <p14:sldId id="326"/>
            <p14:sldId id="327"/>
            <p14:sldId id="343"/>
            <p14:sldId id="338"/>
            <p14:sldId id="328"/>
            <p14:sldId id="330"/>
            <p14:sldId id="341"/>
            <p14:sldId id="342"/>
            <p14:sldId id="339"/>
            <p14:sldId id="332"/>
            <p14:sldId id="329"/>
            <p14:sldId id="331"/>
            <p14:sldId id="334"/>
            <p14:sldId id="336"/>
            <p14:sldId id="335"/>
            <p14:sldId id="340"/>
            <p14:sldId id="32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nöfel,Anja" initials="K" lastIdx="10" clrIdx="0">
    <p:extLst>
      <p:ext uri="{19B8F6BF-5375-455C-9EA6-DF929625EA0E}">
        <p15:presenceInfo xmlns:p15="http://schemas.microsoft.com/office/powerpoint/2012/main" userId="S-1-5-21-1982228756-150042506-1537001085-188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D1719"/>
    <a:srgbClr val="DE2526"/>
    <a:srgbClr val="951B81"/>
    <a:srgbClr val="59358C"/>
    <a:srgbClr val="FFFFFF"/>
    <a:srgbClr val="0069B4"/>
    <a:srgbClr val="F2F2F2"/>
    <a:srgbClr val="13A983"/>
    <a:srgbClr val="009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113A9D2-9D6B-4929-AA2D-F23B5EE8CBE7}" styleName="Designformatvorlage 2 - Akz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Dunkle Formatvorlage 1 - Akz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 autoAdjust="0"/>
    <p:restoredTop sz="96782"/>
  </p:normalViewPr>
  <p:slideViewPr>
    <p:cSldViewPr snapToGrid="0" snapToObjects="1">
      <p:cViewPr varScale="1">
        <p:scale>
          <a:sx n="96" d="100"/>
          <a:sy n="96" d="100"/>
        </p:scale>
        <p:origin x="72" y="3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AC6211-610F-44E5-BF19-D3CDF6EDD281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61AA8-FB04-42D1-9939-D1A1356F808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31560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435D3-23A6-45D3-8DFA-7317DC1E7A64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9AC09-DF60-43F4-96BF-67D4D9A740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31825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_TUD_weiß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30108"/>
            <a:ext cx="1468046" cy="544572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51"/>
            <a:ext cx="1764000" cy="512044"/>
          </a:xfrm>
          <a:prstGeom prst="rect">
            <a:avLst/>
          </a:prstGeom>
        </p:spPr>
      </p:pic>
      <p:sp>
        <p:nvSpPr>
          <p:cNvPr id="13" name="Rechteck 12"/>
          <p:cNvSpPr/>
          <p:nvPr/>
        </p:nvSpPr>
        <p:spPr>
          <a:xfrm>
            <a:off x="0" y="1204912"/>
            <a:ext cx="12192000" cy="5653089"/>
          </a:xfrm>
          <a:prstGeom prst="rect">
            <a:avLst/>
          </a:prstGeom>
          <a:gradFill>
            <a:gsLst>
              <a:gs pos="14000">
                <a:schemeClr val="accent2"/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8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692959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9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20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5981697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 marL="0" indent="0" algn="l">
              <a:buNone/>
              <a:defRPr b="0">
                <a:solidFill>
                  <a:schemeClr val="bg1">
                    <a:alpha val="7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21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028966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22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694293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23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891467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marL="0" marR="0" lvl="0" indent="0" algn="l" defTabSz="914269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Place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occasion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lecture</a:t>
            </a:r>
            <a:r>
              <a:rPr lang="de-DE" dirty="0"/>
              <a:t> // 18 </a:t>
            </a:r>
            <a:r>
              <a:rPr lang="de-DE" dirty="0" err="1"/>
              <a:t>February</a:t>
            </a:r>
            <a:r>
              <a:rPr lang="de-DE" dirty="0"/>
              <a:t> 2022</a:t>
            </a:r>
          </a:p>
        </p:txBody>
      </p:sp>
    </p:spTree>
    <p:extLst>
      <p:ext uri="{BB962C8B-B14F-4D97-AF65-F5344CB8AC3E}">
        <p14:creationId xmlns:p14="http://schemas.microsoft.com/office/powerpoint/2010/main" val="133091202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_TUD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pic>
        <p:nvPicPr>
          <p:cNvPr id="4" name="Grafik 3" descr="Logo. Acht unregelmäßige Dreiecksflächen sind, im Uhrzeigersinn zu einem regelmäßig achteckigen Ring angeordnet. Links daneben zweizeilig der Schriftzug &quot;DRESDEN concept" title="Logo Dresden concep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694" y="329323"/>
            <a:ext cx="1463906" cy="543600"/>
          </a:xfrm>
          <a:prstGeom prst="rect">
            <a:avLst/>
          </a:prstGeom>
        </p:spPr>
      </p:pic>
      <p:pic>
        <p:nvPicPr>
          <p:cNvPr id="3" name="Grafik 2" descr="Logo. Schriftzug &quot;Technische Universität Dresden&quot;. Links davon befindet sich ein Achteck, das in zwei Bereiche aufgeteilt ist, die zusammen die Buchstaben &quot;T&quot; und &quot;U&quot; ergeben." title="Logo der TU Dresden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31"/>
            <a:ext cx="1765029" cy="514800"/>
          </a:xfrm>
          <a:prstGeom prst="rect">
            <a:avLst/>
          </a:prstGeom>
        </p:spPr>
      </p:pic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692959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5981697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 marL="0" indent="0" algn="l">
              <a:buNone/>
              <a:defRPr b="0">
                <a:solidFill>
                  <a:schemeClr val="bg1">
                    <a:alpha val="7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028966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694293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602029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</p:spTree>
    <p:extLst>
      <p:ext uri="{BB962C8B-B14F-4D97-AF65-F5344CB8AC3E}">
        <p14:creationId xmlns:p14="http://schemas.microsoft.com/office/powerpoint/2010/main" val="139656438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_TUD_blauverlau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gradFill>
            <a:gsLst>
              <a:gs pos="14000">
                <a:schemeClr val="accent2"/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692959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5981697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 marL="0" indent="0" algn="l">
              <a:buNone/>
              <a:defRPr b="0">
                <a:solidFill>
                  <a:schemeClr val="bg1">
                    <a:alpha val="7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028966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694293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602029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19" name="Grafik 18" descr="Logo. Acht unregelmäßige Dreiecksflächen sind, im Uhrzeigersinn zu einem regelmäßig achteckigen Ring angeordnet. Links daneben zweizeilig der Schriftzug &quot;DRESDEN concept" title="Logo Dresden concep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694" y="329323"/>
            <a:ext cx="1463906" cy="543600"/>
          </a:xfrm>
          <a:prstGeom prst="rect">
            <a:avLst/>
          </a:prstGeom>
        </p:spPr>
      </p:pic>
      <p:pic>
        <p:nvPicPr>
          <p:cNvPr id="20" name="Grafik 19" descr="Logo. Schriftzug &quot;Technische Universität Dresden&quot;. Links davon befindet sich ein Achteck, das in zwei Bereiche aufgeteilt ist, die zusammen die Buchstaben &quot;T&quot; und &quot;U&quot; ergeben." title="Logo der TU Dresden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31"/>
            <a:ext cx="1765029" cy="5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281077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_TUD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692959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5981697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2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028966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694293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602029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10" name="Grafik 9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30108"/>
            <a:ext cx="1468046" cy="544572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51"/>
            <a:ext cx="1764000" cy="51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19847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folie_TUD_Fot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10" name="Bildplatzhalter 9" descr="Logo. Acht unregelmäßige Dreiecksflächen sind, im Uhrzeigersinn einen Farbverlauf von dunkelblau bis hellgrün ergebend, zu einem regelmäßig achteckigen Ring angeordnet. Links daneben zweizeilig der Schriftzug &quot;DRESDEN concept" title="Logo Dresden concept"/>
          <p:cNvSpPr>
            <a:spLocks noGrp="1"/>
          </p:cNvSpPr>
          <p:nvPr>
            <p:ph type="pic" sz="quarter" idx="16"/>
          </p:nvPr>
        </p:nvSpPr>
        <p:spPr>
          <a:xfrm>
            <a:off x="10405594" y="327901"/>
            <a:ext cx="1468800" cy="550800"/>
          </a:xfrm>
          <a:blipFill>
            <a:blip r:embed="rId2"/>
            <a:srcRect/>
            <a:stretch>
              <a:fillRect l="-493" r="-493"/>
            </a:stretch>
          </a:blipFill>
        </p:spPr>
        <p:txBody>
          <a:bodyPr/>
          <a:lstStyle>
            <a:lvl1pPr>
              <a:defRPr sz="100" b="0">
                <a:solidFill>
                  <a:schemeClr val="bg1"/>
                </a:solidFill>
              </a:defRPr>
            </a:lvl1pPr>
          </a:lstStyle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7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2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sp>
        <p:nvSpPr>
          <p:cNvPr id="5" name="Bildplatzhalter 4" descr="Logo. Schriftzug &quot;Technische Universität Dresden&quot;. Links davon befindet sich ein Achteck, das in zwei Bereiche aufgeteilt ist, die zusammen die Buchstaben &quot;T&quot; und &quot;U&quot; ergeben." title="Logo der TU Dresden"/>
          <p:cNvSpPr>
            <a:spLocks noGrp="1"/>
          </p:cNvSpPr>
          <p:nvPr>
            <p:ph type="pic" sz="quarter" idx="15"/>
          </p:nvPr>
        </p:nvSpPr>
        <p:spPr>
          <a:xfrm>
            <a:off x="286458" y="346075"/>
            <a:ext cx="1764000" cy="514800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9" r="-29"/>
            </a:stretch>
          </a:blipFill>
        </p:spPr>
        <p:txBody>
          <a:bodyPr/>
          <a:lstStyle>
            <a:lvl1pPr>
              <a:defRPr sz="100" b="0">
                <a:solidFill>
                  <a:schemeClr val="bg1"/>
                </a:solidFill>
              </a:defRPr>
            </a:lvl1pPr>
          </a:lstStyle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1703687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elfolie_TUD_weiß+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6" name="Bildplatzhalter 9" descr="Logo. Acht unregelmäßige Dreiecksflächen sind, im Uhrzeigersinn einen Farbverlauf von dunkelblau bis hellgrün ergebend, zu einem regelmäßig achteckigen Ring angeordnet. Links daneben zweizeilig der Schriftzug &quot;DRESDEN concept" title="Logo Dresden concept"/>
          <p:cNvSpPr>
            <a:spLocks noGrp="1"/>
          </p:cNvSpPr>
          <p:nvPr>
            <p:ph type="pic" sz="quarter" idx="16"/>
          </p:nvPr>
        </p:nvSpPr>
        <p:spPr>
          <a:xfrm>
            <a:off x="10442465" y="328249"/>
            <a:ext cx="1468800" cy="550800"/>
          </a:xfrm>
          <a:blipFill>
            <a:blip r:embed="rId2"/>
            <a:srcRect/>
            <a:stretch>
              <a:fillRect l="-493" r="-493"/>
            </a:stretch>
          </a:blipFill>
        </p:spPr>
        <p:txBody>
          <a:bodyPr/>
          <a:lstStyle>
            <a:lvl1pPr>
              <a:defRPr sz="100" b="0">
                <a:solidFill>
                  <a:schemeClr val="bg1"/>
                </a:solidFill>
              </a:defRPr>
            </a:lvl1pPr>
          </a:lstStyle>
          <a:p>
            <a:endParaRPr lang="de-DE" sz="300" b="0" dirty="0"/>
          </a:p>
          <a:p>
            <a:endParaRPr lang="de-DE" sz="300" b="0" dirty="0"/>
          </a:p>
          <a:p>
            <a:endParaRPr lang="de-DE" dirty="0"/>
          </a:p>
        </p:txBody>
      </p:sp>
      <p:sp>
        <p:nvSpPr>
          <p:cNvPr id="17" name="Bildplatzhalter 4" descr="Logo. Schriftzug &quot;Technische Universität Dresden&quot;. Links davon befindet sich ein Achteck, das in zwei Bereiche aufgeteilt ist, die zusammen die Buchstaben &quot;T&quot; und &quot;U&quot; ergeben." title="Logo der TU Dresden"/>
          <p:cNvSpPr>
            <a:spLocks noGrp="1"/>
          </p:cNvSpPr>
          <p:nvPr>
            <p:ph type="pic" sz="quarter" idx="15"/>
          </p:nvPr>
        </p:nvSpPr>
        <p:spPr>
          <a:xfrm>
            <a:off x="290304" y="349731"/>
            <a:ext cx="1764000" cy="514800"/>
          </a:xfrm>
          <a:blipFill dpi="0" rotWithShape="1">
            <a:blip r:embed="rId3"/>
            <a:srcRect/>
            <a:stretch>
              <a:fillRect l="-29" r="-29"/>
            </a:stretch>
          </a:blipFill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endParaRPr lang="de-DE" dirty="0"/>
          </a:p>
          <a:p>
            <a:endParaRPr lang="de-DE" dirty="0"/>
          </a:p>
        </p:txBody>
      </p:sp>
      <p:sp>
        <p:nvSpPr>
          <p:cNvPr id="7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2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</p:spTree>
    <p:extLst>
      <p:ext uri="{BB962C8B-B14F-4D97-AF65-F5344CB8AC3E}">
        <p14:creationId xmlns:p14="http://schemas.microsoft.com/office/powerpoint/2010/main" val="3002802337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elfolie_TUD_Fot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4"/>
          </p:nvPr>
        </p:nvSpPr>
        <p:spPr>
          <a:xfrm>
            <a:off x="0" y="1204913"/>
            <a:ext cx="12192000" cy="565308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2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19" name="Grafik 18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30108"/>
            <a:ext cx="1468046" cy="544572"/>
          </a:xfrm>
          <a:prstGeom prst="rect">
            <a:avLst/>
          </a:prstGeom>
        </p:spPr>
      </p:pic>
      <p:pic>
        <p:nvPicPr>
          <p:cNvPr id="20" name="Grafik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51"/>
            <a:ext cx="1764000" cy="51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262892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folie_TUD_weiß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1204912"/>
            <a:ext cx="12192000" cy="5653089"/>
          </a:xfrm>
          <a:prstGeom prst="rect">
            <a:avLst/>
          </a:prstGeom>
          <a:gradFill>
            <a:gsLst>
              <a:gs pos="14000">
                <a:schemeClr val="accent5"/>
              </a:gs>
              <a:gs pos="100000">
                <a:schemeClr val="accent4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11" name="Grafik 10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30108"/>
            <a:ext cx="1468046" cy="544572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51"/>
            <a:ext cx="1764000" cy="51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00520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elfolie_TUD_weiß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1204912"/>
            <a:ext cx="12192000" cy="5653089"/>
          </a:xfrm>
          <a:prstGeom prst="rect">
            <a:avLst/>
          </a:prstGeom>
          <a:gradFill>
            <a:gsLst>
              <a:gs pos="14000">
                <a:srgbClr val="951B81"/>
              </a:gs>
              <a:gs pos="100000">
                <a:srgbClr val="59358C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11" name="Grafik 10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30108"/>
            <a:ext cx="1468046" cy="544572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51"/>
            <a:ext cx="1764000" cy="51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369740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elfolie_TUD_weiß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1204912"/>
            <a:ext cx="12192000" cy="5653089"/>
          </a:xfrm>
          <a:prstGeom prst="rect">
            <a:avLst/>
          </a:prstGeom>
          <a:gradFill>
            <a:gsLst>
              <a:gs pos="14000">
                <a:srgbClr val="DE2526"/>
              </a:gs>
              <a:gs pos="100000">
                <a:srgbClr val="CD1719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11" name="Grafik 10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30108"/>
            <a:ext cx="1468046" cy="544572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51"/>
            <a:ext cx="1764000" cy="51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499437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elfolie_TUD_weiß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3">
            <a:extLst>
              <a:ext uri="{FF2B5EF4-FFF2-40B4-BE49-F238E27FC236}">
                <a16:creationId xmlns:a16="http://schemas.microsoft.com/office/drawing/2014/main" id="{8D22BFAA-62C6-4AF7-A140-D9E9750A54AC}"/>
              </a:ext>
            </a:extLst>
          </p:cNvPr>
          <p:cNvSpPr/>
          <p:nvPr userDrawn="1"/>
        </p:nvSpPr>
        <p:spPr>
          <a:xfrm>
            <a:off x="3151994" y="2563831"/>
            <a:ext cx="9050720" cy="4317954"/>
          </a:xfrm>
          <a:custGeom>
            <a:avLst/>
            <a:gdLst>
              <a:gd name="connsiteX0" fmla="*/ 0 w 5904411"/>
              <a:gd name="connsiteY0" fmla="*/ 0 h 3967747"/>
              <a:gd name="connsiteX1" fmla="*/ 5904411 w 5904411"/>
              <a:gd name="connsiteY1" fmla="*/ 0 h 3967747"/>
              <a:gd name="connsiteX2" fmla="*/ 5904411 w 5904411"/>
              <a:gd name="connsiteY2" fmla="*/ 3967747 h 3967747"/>
              <a:gd name="connsiteX3" fmla="*/ 0 w 5904411"/>
              <a:gd name="connsiteY3" fmla="*/ 3967747 h 3967747"/>
              <a:gd name="connsiteX4" fmla="*/ 0 w 5904411"/>
              <a:gd name="connsiteY4" fmla="*/ 0 h 3967747"/>
              <a:gd name="connsiteX0" fmla="*/ 3590925 w 5904411"/>
              <a:gd name="connsiteY0" fmla="*/ 0 h 3967747"/>
              <a:gd name="connsiteX1" fmla="*/ 5904411 w 5904411"/>
              <a:gd name="connsiteY1" fmla="*/ 0 h 3967747"/>
              <a:gd name="connsiteX2" fmla="*/ 5904411 w 5904411"/>
              <a:gd name="connsiteY2" fmla="*/ 3967747 h 3967747"/>
              <a:gd name="connsiteX3" fmla="*/ 0 w 5904411"/>
              <a:gd name="connsiteY3" fmla="*/ 3967747 h 3967747"/>
              <a:gd name="connsiteX4" fmla="*/ 3590925 w 5904411"/>
              <a:gd name="connsiteY4" fmla="*/ 0 h 3967747"/>
              <a:gd name="connsiteX0" fmla="*/ 3857625 w 6171111"/>
              <a:gd name="connsiteY0" fmla="*/ 0 h 3967747"/>
              <a:gd name="connsiteX1" fmla="*/ 6171111 w 6171111"/>
              <a:gd name="connsiteY1" fmla="*/ 0 h 3967747"/>
              <a:gd name="connsiteX2" fmla="*/ 6171111 w 6171111"/>
              <a:gd name="connsiteY2" fmla="*/ 3967747 h 3967747"/>
              <a:gd name="connsiteX3" fmla="*/ 0 w 6171111"/>
              <a:gd name="connsiteY3" fmla="*/ 3958222 h 3967747"/>
              <a:gd name="connsiteX4" fmla="*/ 3857625 w 6171111"/>
              <a:gd name="connsiteY4" fmla="*/ 0 h 3967747"/>
              <a:gd name="connsiteX0" fmla="*/ 3952875 w 6171111"/>
              <a:gd name="connsiteY0" fmla="*/ 9525 h 3967747"/>
              <a:gd name="connsiteX1" fmla="*/ 6171111 w 6171111"/>
              <a:gd name="connsiteY1" fmla="*/ 0 h 3967747"/>
              <a:gd name="connsiteX2" fmla="*/ 6171111 w 6171111"/>
              <a:gd name="connsiteY2" fmla="*/ 3967747 h 3967747"/>
              <a:gd name="connsiteX3" fmla="*/ 0 w 6171111"/>
              <a:gd name="connsiteY3" fmla="*/ 3958222 h 3967747"/>
              <a:gd name="connsiteX4" fmla="*/ 3952875 w 6171111"/>
              <a:gd name="connsiteY4" fmla="*/ 9525 h 3967747"/>
              <a:gd name="connsiteX0" fmla="*/ 3925061 w 6171111"/>
              <a:gd name="connsiteY0" fmla="*/ 0 h 3972129"/>
              <a:gd name="connsiteX1" fmla="*/ 6171111 w 6171111"/>
              <a:gd name="connsiteY1" fmla="*/ 4382 h 3972129"/>
              <a:gd name="connsiteX2" fmla="*/ 6171111 w 6171111"/>
              <a:gd name="connsiteY2" fmla="*/ 3972129 h 3972129"/>
              <a:gd name="connsiteX3" fmla="*/ 0 w 6171111"/>
              <a:gd name="connsiteY3" fmla="*/ 3962604 h 3972129"/>
              <a:gd name="connsiteX4" fmla="*/ 3925061 w 6171111"/>
              <a:gd name="connsiteY4" fmla="*/ 0 h 3972129"/>
              <a:gd name="connsiteX0" fmla="*/ 3925061 w 6171111"/>
              <a:gd name="connsiteY0" fmla="*/ 381 h 3967747"/>
              <a:gd name="connsiteX1" fmla="*/ 6171111 w 6171111"/>
              <a:gd name="connsiteY1" fmla="*/ 0 h 3967747"/>
              <a:gd name="connsiteX2" fmla="*/ 6171111 w 6171111"/>
              <a:gd name="connsiteY2" fmla="*/ 3967747 h 3967747"/>
              <a:gd name="connsiteX3" fmla="*/ 0 w 6171111"/>
              <a:gd name="connsiteY3" fmla="*/ 3958222 h 3967747"/>
              <a:gd name="connsiteX4" fmla="*/ 3925061 w 6171111"/>
              <a:gd name="connsiteY4" fmla="*/ 381 h 3967747"/>
              <a:gd name="connsiteX0" fmla="*/ 3961821 w 6207871"/>
              <a:gd name="connsiteY0" fmla="*/ 381 h 3981196"/>
              <a:gd name="connsiteX1" fmla="*/ 6207871 w 6207871"/>
              <a:gd name="connsiteY1" fmla="*/ 0 h 3981196"/>
              <a:gd name="connsiteX2" fmla="*/ 6207871 w 6207871"/>
              <a:gd name="connsiteY2" fmla="*/ 3967747 h 3981196"/>
              <a:gd name="connsiteX3" fmla="*/ 0 w 6207871"/>
              <a:gd name="connsiteY3" fmla="*/ 3981196 h 3981196"/>
              <a:gd name="connsiteX4" fmla="*/ 3961821 w 6207871"/>
              <a:gd name="connsiteY4" fmla="*/ 381 h 3981196"/>
              <a:gd name="connsiteX0" fmla="*/ 3984796 w 6230846"/>
              <a:gd name="connsiteY0" fmla="*/ 381 h 3981196"/>
              <a:gd name="connsiteX1" fmla="*/ 6230846 w 6230846"/>
              <a:gd name="connsiteY1" fmla="*/ 0 h 3981196"/>
              <a:gd name="connsiteX2" fmla="*/ 6230846 w 6230846"/>
              <a:gd name="connsiteY2" fmla="*/ 3967747 h 3981196"/>
              <a:gd name="connsiteX3" fmla="*/ 0 w 6230846"/>
              <a:gd name="connsiteY3" fmla="*/ 3981196 h 3981196"/>
              <a:gd name="connsiteX4" fmla="*/ 3984796 w 6230846"/>
              <a:gd name="connsiteY4" fmla="*/ 381 h 3981196"/>
              <a:gd name="connsiteX0" fmla="*/ 3984796 w 8344852"/>
              <a:gd name="connsiteY0" fmla="*/ 381 h 3981196"/>
              <a:gd name="connsiteX1" fmla="*/ 8344852 w 8344852"/>
              <a:gd name="connsiteY1" fmla="*/ 0 h 3981196"/>
              <a:gd name="connsiteX2" fmla="*/ 6230846 w 8344852"/>
              <a:gd name="connsiteY2" fmla="*/ 3967747 h 3981196"/>
              <a:gd name="connsiteX3" fmla="*/ 0 w 8344852"/>
              <a:gd name="connsiteY3" fmla="*/ 3981196 h 3981196"/>
              <a:gd name="connsiteX4" fmla="*/ 3984796 w 8344852"/>
              <a:gd name="connsiteY4" fmla="*/ 381 h 3981196"/>
              <a:gd name="connsiteX0" fmla="*/ 3984796 w 8344852"/>
              <a:gd name="connsiteY0" fmla="*/ 381 h 3981196"/>
              <a:gd name="connsiteX1" fmla="*/ 8344852 w 8344852"/>
              <a:gd name="connsiteY1" fmla="*/ 0 h 3981196"/>
              <a:gd name="connsiteX2" fmla="*/ 8344852 w 8344852"/>
              <a:gd name="connsiteY2" fmla="*/ 3967748 h 3981196"/>
              <a:gd name="connsiteX3" fmla="*/ 0 w 8344852"/>
              <a:gd name="connsiteY3" fmla="*/ 3981196 h 3981196"/>
              <a:gd name="connsiteX4" fmla="*/ 3984796 w 8344852"/>
              <a:gd name="connsiteY4" fmla="*/ 381 h 3981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44852" h="3981196">
                <a:moveTo>
                  <a:pt x="3984796" y="381"/>
                </a:moveTo>
                <a:lnTo>
                  <a:pt x="8344852" y="0"/>
                </a:lnTo>
                <a:lnTo>
                  <a:pt x="8344852" y="3967748"/>
                </a:lnTo>
                <a:lnTo>
                  <a:pt x="0" y="3981196"/>
                </a:lnTo>
                <a:lnTo>
                  <a:pt x="3984796" y="381"/>
                </a:ln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de-DE" dirty="0"/>
          </a:p>
        </p:txBody>
      </p:sp>
      <p:sp>
        <p:nvSpPr>
          <p:cNvPr id="19" name="Rechteck 9">
            <a:extLst>
              <a:ext uri="{FF2B5EF4-FFF2-40B4-BE49-F238E27FC236}">
                <a16:creationId xmlns:a16="http://schemas.microsoft.com/office/drawing/2014/main" id="{9FD71789-74E3-45C9-B1BA-98AEA75CF44C}"/>
              </a:ext>
            </a:extLst>
          </p:cNvPr>
          <p:cNvSpPr/>
          <p:nvPr userDrawn="1"/>
        </p:nvSpPr>
        <p:spPr>
          <a:xfrm>
            <a:off x="-1" y="3692352"/>
            <a:ext cx="9555747" cy="3185710"/>
          </a:xfrm>
          <a:custGeom>
            <a:avLst/>
            <a:gdLst>
              <a:gd name="connsiteX0" fmla="*/ 0 w 8810492"/>
              <a:gd name="connsiteY0" fmla="*/ 0 h 2937256"/>
              <a:gd name="connsiteX1" fmla="*/ 8810492 w 8810492"/>
              <a:gd name="connsiteY1" fmla="*/ 0 h 2937256"/>
              <a:gd name="connsiteX2" fmla="*/ 8810492 w 8810492"/>
              <a:gd name="connsiteY2" fmla="*/ 2937256 h 2937256"/>
              <a:gd name="connsiteX3" fmla="*/ 0 w 8810492"/>
              <a:gd name="connsiteY3" fmla="*/ 2937256 h 2937256"/>
              <a:gd name="connsiteX4" fmla="*/ 0 w 8810492"/>
              <a:gd name="connsiteY4" fmla="*/ 0 h 2937256"/>
              <a:gd name="connsiteX0" fmla="*/ 0 w 8810492"/>
              <a:gd name="connsiteY0" fmla="*/ 0 h 2937256"/>
              <a:gd name="connsiteX1" fmla="*/ 5858286 w 8810492"/>
              <a:gd name="connsiteY1" fmla="*/ 0 h 2937256"/>
              <a:gd name="connsiteX2" fmla="*/ 8810492 w 8810492"/>
              <a:gd name="connsiteY2" fmla="*/ 2937256 h 2937256"/>
              <a:gd name="connsiteX3" fmla="*/ 0 w 8810492"/>
              <a:gd name="connsiteY3" fmla="*/ 2937256 h 2937256"/>
              <a:gd name="connsiteX4" fmla="*/ 0 w 8810492"/>
              <a:gd name="connsiteY4" fmla="*/ 0 h 2937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10492" h="2937256">
                <a:moveTo>
                  <a:pt x="0" y="0"/>
                </a:moveTo>
                <a:lnTo>
                  <a:pt x="5858286" y="0"/>
                </a:lnTo>
                <a:lnTo>
                  <a:pt x="8810492" y="2937256"/>
                </a:lnTo>
                <a:lnTo>
                  <a:pt x="0" y="293725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DE" dirty="0"/>
              <a:t> </a:t>
            </a:r>
          </a:p>
        </p:txBody>
      </p:sp>
      <p:sp>
        <p:nvSpPr>
          <p:cNvPr id="20" name="Rechteck 8">
            <a:extLst>
              <a:ext uri="{FF2B5EF4-FFF2-40B4-BE49-F238E27FC236}">
                <a16:creationId xmlns:a16="http://schemas.microsoft.com/office/drawing/2014/main" id="{E0A106CA-E2A4-4455-BD1E-8B7BA6CDC669}"/>
              </a:ext>
            </a:extLst>
          </p:cNvPr>
          <p:cNvSpPr/>
          <p:nvPr userDrawn="1"/>
        </p:nvSpPr>
        <p:spPr>
          <a:xfrm>
            <a:off x="-709" y="2302249"/>
            <a:ext cx="6020777" cy="4581946"/>
          </a:xfrm>
          <a:custGeom>
            <a:avLst/>
            <a:gdLst>
              <a:gd name="connsiteX0" fmla="*/ 0 w 3587931"/>
              <a:gd name="connsiteY0" fmla="*/ 0 h 5307874"/>
              <a:gd name="connsiteX1" fmla="*/ 3587931 w 3587931"/>
              <a:gd name="connsiteY1" fmla="*/ 0 h 5307874"/>
              <a:gd name="connsiteX2" fmla="*/ 3587931 w 3587931"/>
              <a:gd name="connsiteY2" fmla="*/ 5307874 h 5307874"/>
              <a:gd name="connsiteX3" fmla="*/ 0 w 3587931"/>
              <a:gd name="connsiteY3" fmla="*/ 5307874 h 5307874"/>
              <a:gd name="connsiteX4" fmla="*/ 0 w 3587931"/>
              <a:gd name="connsiteY4" fmla="*/ 0 h 5307874"/>
              <a:gd name="connsiteX0" fmla="*/ 0 w 3587931"/>
              <a:gd name="connsiteY0" fmla="*/ 0 h 5307874"/>
              <a:gd name="connsiteX1" fmla="*/ 3587931 w 3587931"/>
              <a:gd name="connsiteY1" fmla="*/ 0 h 5307874"/>
              <a:gd name="connsiteX2" fmla="*/ 3587931 w 3587931"/>
              <a:gd name="connsiteY2" fmla="*/ 3657600 h 5307874"/>
              <a:gd name="connsiteX3" fmla="*/ 3587931 w 3587931"/>
              <a:gd name="connsiteY3" fmla="*/ 5307874 h 5307874"/>
              <a:gd name="connsiteX4" fmla="*/ 0 w 3587931"/>
              <a:gd name="connsiteY4" fmla="*/ 5307874 h 5307874"/>
              <a:gd name="connsiteX5" fmla="*/ 0 w 3587931"/>
              <a:gd name="connsiteY5" fmla="*/ 0 h 5307874"/>
              <a:gd name="connsiteX0" fmla="*/ 0 w 3587931"/>
              <a:gd name="connsiteY0" fmla="*/ 0 h 5307874"/>
              <a:gd name="connsiteX1" fmla="*/ 1463039 w 3587931"/>
              <a:gd name="connsiteY1" fmla="*/ 1445623 h 5307874"/>
              <a:gd name="connsiteX2" fmla="*/ 3587931 w 3587931"/>
              <a:gd name="connsiteY2" fmla="*/ 3657600 h 5307874"/>
              <a:gd name="connsiteX3" fmla="*/ 3587931 w 3587931"/>
              <a:gd name="connsiteY3" fmla="*/ 5307874 h 5307874"/>
              <a:gd name="connsiteX4" fmla="*/ 0 w 3587931"/>
              <a:gd name="connsiteY4" fmla="*/ 5307874 h 5307874"/>
              <a:gd name="connsiteX5" fmla="*/ 0 w 3587931"/>
              <a:gd name="connsiteY5" fmla="*/ 0 h 5307874"/>
              <a:gd name="connsiteX0" fmla="*/ 0 w 3622765"/>
              <a:gd name="connsiteY0" fmla="*/ 0 h 5307874"/>
              <a:gd name="connsiteX1" fmla="*/ 1463039 w 3622765"/>
              <a:gd name="connsiteY1" fmla="*/ 1445623 h 5307874"/>
              <a:gd name="connsiteX2" fmla="*/ 3622765 w 3622765"/>
              <a:gd name="connsiteY2" fmla="*/ 3614057 h 5307874"/>
              <a:gd name="connsiteX3" fmla="*/ 3587931 w 3622765"/>
              <a:gd name="connsiteY3" fmla="*/ 5307874 h 5307874"/>
              <a:gd name="connsiteX4" fmla="*/ 0 w 3622765"/>
              <a:gd name="connsiteY4" fmla="*/ 5307874 h 5307874"/>
              <a:gd name="connsiteX5" fmla="*/ 0 w 3622765"/>
              <a:gd name="connsiteY5" fmla="*/ 0 h 5307874"/>
              <a:gd name="connsiteX0" fmla="*/ 0 w 3622765"/>
              <a:gd name="connsiteY0" fmla="*/ 0 h 5307874"/>
              <a:gd name="connsiteX1" fmla="*/ 1463039 w 3622765"/>
              <a:gd name="connsiteY1" fmla="*/ 1445623 h 5307874"/>
              <a:gd name="connsiteX2" fmla="*/ 3622765 w 3622765"/>
              <a:gd name="connsiteY2" fmla="*/ 3614057 h 5307874"/>
              <a:gd name="connsiteX3" fmla="*/ 3622765 w 3622765"/>
              <a:gd name="connsiteY3" fmla="*/ 5307874 h 5307874"/>
              <a:gd name="connsiteX4" fmla="*/ 0 w 3622765"/>
              <a:gd name="connsiteY4" fmla="*/ 5307874 h 5307874"/>
              <a:gd name="connsiteX5" fmla="*/ 0 w 3622765"/>
              <a:gd name="connsiteY5" fmla="*/ 0 h 5307874"/>
              <a:gd name="connsiteX0" fmla="*/ 0 w 3622765"/>
              <a:gd name="connsiteY0" fmla="*/ 0 h 5307874"/>
              <a:gd name="connsiteX1" fmla="*/ 1463039 w 3622765"/>
              <a:gd name="connsiteY1" fmla="*/ 1445623 h 5307874"/>
              <a:gd name="connsiteX2" fmla="*/ 3578520 w 3622765"/>
              <a:gd name="connsiteY2" fmla="*/ 3614057 h 5307874"/>
              <a:gd name="connsiteX3" fmla="*/ 3622765 w 3622765"/>
              <a:gd name="connsiteY3" fmla="*/ 5307874 h 5307874"/>
              <a:gd name="connsiteX4" fmla="*/ 0 w 3622765"/>
              <a:gd name="connsiteY4" fmla="*/ 5307874 h 5307874"/>
              <a:gd name="connsiteX5" fmla="*/ 0 w 3622765"/>
              <a:gd name="connsiteY5" fmla="*/ 0 h 5307874"/>
              <a:gd name="connsiteX0" fmla="*/ 0 w 3593268"/>
              <a:gd name="connsiteY0" fmla="*/ 0 h 5307874"/>
              <a:gd name="connsiteX1" fmla="*/ 1463039 w 3593268"/>
              <a:gd name="connsiteY1" fmla="*/ 1445623 h 5307874"/>
              <a:gd name="connsiteX2" fmla="*/ 3578520 w 3593268"/>
              <a:gd name="connsiteY2" fmla="*/ 3614057 h 5307874"/>
              <a:gd name="connsiteX3" fmla="*/ 3593268 w 3593268"/>
              <a:gd name="connsiteY3" fmla="*/ 5307874 h 5307874"/>
              <a:gd name="connsiteX4" fmla="*/ 0 w 3593268"/>
              <a:gd name="connsiteY4" fmla="*/ 5307874 h 5307874"/>
              <a:gd name="connsiteX5" fmla="*/ 0 w 3593268"/>
              <a:gd name="connsiteY5" fmla="*/ 0 h 5307874"/>
              <a:gd name="connsiteX0" fmla="*/ 0 w 3578520"/>
              <a:gd name="connsiteY0" fmla="*/ 0 h 5307874"/>
              <a:gd name="connsiteX1" fmla="*/ 1463039 w 3578520"/>
              <a:gd name="connsiteY1" fmla="*/ 1445623 h 5307874"/>
              <a:gd name="connsiteX2" fmla="*/ 3578520 w 3578520"/>
              <a:gd name="connsiteY2" fmla="*/ 3614057 h 5307874"/>
              <a:gd name="connsiteX3" fmla="*/ 3563771 w 3578520"/>
              <a:gd name="connsiteY3" fmla="*/ 5307874 h 5307874"/>
              <a:gd name="connsiteX4" fmla="*/ 0 w 3578520"/>
              <a:gd name="connsiteY4" fmla="*/ 5307874 h 5307874"/>
              <a:gd name="connsiteX5" fmla="*/ 0 w 3578520"/>
              <a:gd name="connsiteY5" fmla="*/ 0 h 5307874"/>
              <a:gd name="connsiteX0" fmla="*/ 0 w 3578520"/>
              <a:gd name="connsiteY0" fmla="*/ 0 h 5307874"/>
              <a:gd name="connsiteX1" fmla="*/ 1463039 w 3578520"/>
              <a:gd name="connsiteY1" fmla="*/ 1445623 h 5307874"/>
              <a:gd name="connsiteX2" fmla="*/ 3578520 w 3578520"/>
              <a:gd name="connsiteY2" fmla="*/ 3614057 h 5307874"/>
              <a:gd name="connsiteX3" fmla="*/ 3571146 w 3578520"/>
              <a:gd name="connsiteY3" fmla="*/ 5307874 h 5307874"/>
              <a:gd name="connsiteX4" fmla="*/ 0 w 3578520"/>
              <a:gd name="connsiteY4" fmla="*/ 5307874 h 5307874"/>
              <a:gd name="connsiteX5" fmla="*/ 0 w 3578520"/>
              <a:gd name="connsiteY5" fmla="*/ 0 h 5307874"/>
              <a:gd name="connsiteX0" fmla="*/ 0 w 3578520"/>
              <a:gd name="connsiteY0" fmla="*/ 0 h 5307874"/>
              <a:gd name="connsiteX1" fmla="*/ 1463039 w 3578520"/>
              <a:gd name="connsiteY1" fmla="*/ 1445623 h 5307874"/>
              <a:gd name="connsiteX2" fmla="*/ 3578520 w 3578520"/>
              <a:gd name="connsiteY2" fmla="*/ 3614057 h 5307874"/>
              <a:gd name="connsiteX3" fmla="*/ 3578520 w 3578520"/>
              <a:gd name="connsiteY3" fmla="*/ 5307874 h 5307874"/>
              <a:gd name="connsiteX4" fmla="*/ 0 w 3578520"/>
              <a:gd name="connsiteY4" fmla="*/ 5307874 h 5307874"/>
              <a:gd name="connsiteX5" fmla="*/ 0 w 3578520"/>
              <a:gd name="connsiteY5" fmla="*/ 0 h 5307874"/>
              <a:gd name="connsiteX0" fmla="*/ 0 w 3599785"/>
              <a:gd name="connsiteY0" fmla="*/ 0 h 3872478"/>
              <a:gd name="connsiteX1" fmla="*/ 1484304 w 3599785"/>
              <a:gd name="connsiteY1" fmla="*/ 10227 h 3872478"/>
              <a:gd name="connsiteX2" fmla="*/ 3599785 w 3599785"/>
              <a:gd name="connsiteY2" fmla="*/ 2178661 h 3872478"/>
              <a:gd name="connsiteX3" fmla="*/ 3599785 w 3599785"/>
              <a:gd name="connsiteY3" fmla="*/ 3872478 h 3872478"/>
              <a:gd name="connsiteX4" fmla="*/ 21265 w 3599785"/>
              <a:gd name="connsiteY4" fmla="*/ 3872478 h 3872478"/>
              <a:gd name="connsiteX5" fmla="*/ 0 w 3599785"/>
              <a:gd name="connsiteY5" fmla="*/ 0 h 3872478"/>
              <a:gd name="connsiteX0" fmla="*/ 0 w 3599785"/>
              <a:gd name="connsiteY0" fmla="*/ 0 h 4223352"/>
              <a:gd name="connsiteX1" fmla="*/ 1484304 w 3599785"/>
              <a:gd name="connsiteY1" fmla="*/ 10227 h 4223352"/>
              <a:gd name="connsiteX2" fmla="*/ 3599785 w 3599785"/>
              <a:gd name="connsiteY2" fmla="*/ 2178661 h 4223352"/>
              <a:gd name="connsiteX3" fmla="*/ 3589153 w 3599785"/>
              <a:gd name="connsiteY3" fmla="*/ 4223352 h 4223352"/>
              <a:gd name="connsiteX4" fmla="*/ 21265 w 3599785"/>
              <a:gd name="connsiteY4" fmla="*/ 3872478 h 4223352"/>
              <a:gd name="connsiteX5" fmla="*/ 0 w 3599785"/>
              <a:gd name="connsiteY5" fmla="*/ 0 h 4223352"/>
              <a:gd name="connsiteX0" fmla="*/ 0 w 3599785"/>
              <a:gd name="connsiteY0" fmla="*/ 0 h 4223352"/>
              <a:gd name="connsiteX1" fmla="*/ 1484304 w 3599785"/>
              <a:gd name="connsiteY1" fmla="*/ 10227 h 4223352"/>
              <a:gd name="connsiteX2" fmla="*/ 3599785 w 3599785"/>
              <a:gd name="connsiteY2" fmla="*/ 2178661 h 4223352"/>
              <a:gd name="connsiteX3" fmla="*/ 3589153 w 3599785"/>
              <a:gd name="connsiteY3" fmla="*/ 4223352 h 4223352"/>
              <a:gd name="connsiteX4" fmla="*/ 0 w 3599785"/>
              <a:gd name="connsiteY4" fmla="*/ 4212720 h 4223352"/>
              <a:gd name="connsiteX5" fmla="*/ 0 w 3599785"/>
              <a:gd name="connsiteY5" fmla="*/ 0 h 4223352"/>
              <a:gd name="connsiteX0" fmla="*/ 0 w 3599785"/>
              <a:gd name="connsiteY0" fmla="*/ 7190 h 4230542"/>
              <a:gd name="connsiteX1" fmla="*/ 1484304 w 3599785"/>
              <a:gd name="connsiteY1" fmla="*/ 0 h 4230542"/>
              <a:gd name="connsiteX2" fmla="*/ 3599785 w 3599785"/>
              <a:gd name="connsiteY2" fmla="*/ 2185851 h 4230542"/>
              <a:gd name="connsiteX3" fmla="*/ 3589153 w 3599785"/>
              <a:gd name="connsiteY3" fmla="*/ 4230542 h 4230542"/>
              <a:gd name="connsiteX4" fmla="*/ 0 w 3599785"/>
              <a:gd name="connsiteY4" fmla="*/ 4219910 h 4230542"/>
              <a:gd name="connsiteX5" fmla="*/ 0 w 3599785"/>
              <a:gd name="connsiteY5" fmla="*/ 7190 h 4230542"/>
              <a:gd name="connsiteX0" fmla="*/ 0 w 3607160"/>
              <a:gd name="connsiteY0" fmla="*/ 14564 h 4230542"/>
              <a:gd name="connsiteX1" fmla="*/ 1491679 w 3607160"/>
              <a:gd name="connsiteY1" fmla="*/ 0 h 4230542"/>
              <a:gd name="connsiteX2" fmla="*/ 3607160 w 3607160"/>
              <a:gd name="connsiteY2" fmla="*/ 2185851 h 4230542"/>
              <a:gd name="connsiteX3" fmla="*/ 3596528 w 3607160"/>
              <a:gd name="connsiteY3" fmla="*/ 4230542 h 4230542"/>
              <a:gd name="connsiteX4" fmla="*/ 7375 w 3607160"/>
              <a:gd name="connsiteY4" fmla="*/ 4219910 h 4230542"/>
              <a:gd name="connsiteX5" fmla="*/ 0 w 3607160"/>
              <a:gd name="connsiteY5" fmla="*/ 14564 h 4230542"/>
              <a:gd name="connsiteX0" fmla="*/ 709 w 3600495"/>
              <a:gd name="connsiteY0" fmla="*/ 0 h 4407707"/>
              <a:gd name="connsiteX1" fmla="*/ 1485014 w 3600495"/>
              <a:gd name="connsiteY1" fmla="*/ 177165 h 4407707"/>
              <a:gd name="connsiteX2" fmla="*/ 3600495 w 3600495"/>
              <a:gd name="connsiteY2" fmla="*/ 2363016 h 4407707"/>
              <a:gd name="connsiteX3" fmla="*/ 3589863 w 3600495"/>
              <a:gd name="connsiteY3" fmla="*/ 4407707 h 4407707"/>
              <a:gd name="connsiteX4" fmla="*/ 710 w 3600495"/>
              <a:gd name="connsiteY4" fmla="*/ 4397075 h 4407707"/>
              <a:gd name="connsiteX5" fmla="*/ 709 w 3600495"/>
              <a:gd name="connsiteY5" fmla="*/ 0 h 4407707"/>
              <a:gd name="connsiteX0" fmla="*/ 709 w 3600495"/>
              <a:gd name="connsiteY0" fmla="*/ 0 h 4230727"/>
              <a:gd name="connsiteX1" fmla="*/ 1485014 w 3600495"/>
              <a:gd name="connsiteY1" fmla="*/ 185 h 4230727"/>
              <a:gd name="connsiteX2" fmla="*/ 3600495 w 3600495"/>
              <a:gd name="connsiteY2" fmla="*/ 2186036 h 4230727"/>
              <a:gd name="connsiteX3" fmla="*/ 3589863 w 3600495"/>
              <a:gd name="connsiteY3" fmla="*/ 4230727 h 4230727"/>
              <a:gd name="connsiteX4" fmla="*/ 710 w 3600495"/>
              <a:gd name="connsiteY4" fmla="*/ 4220095 h 4230727"/>
              <a:gd name="connsiteX5" fmla="*/ 709 w 3600495"/>
              <a:gd name="connsiteY5" fmla="*/ 0 h 4230727"/>
              <a:gd name="connsiteX0" fmla="*/ 709 w 5551215"/>
              <a:gd name="connsiteY0" fmla="*/ 0 h 4232550"/>
              <a:gd name="connsiteX1" fmla="*/ 1485014 w 5551215"/>
              <a:gd name="connsiteY1" fmla="*/ 185 h 4232550"/>
              <a:gd name="connsiteX2" fmla="*/ 5551215 w 5551215"/>
              <a:gd name="connsiteY2" fmla="*/ 4232550 h 4232550"/>
              <a:gd name="connsiteX3" fmla="*/ 3589863 w 5551215"/>
              <a:gd name="connsiteY3" fmla="*/ 4230727 h 4232550"/>
              <a:gd name="connsiteX4" fmla="*/ 710 w 5551215"/>
              <a:gd name="connsiteY4" fmla="*/ 4220095 h 4232550"/>
              <a:gd name="connsiteX5" fmla="*/ 709 w 5551215"/>
              <a:gd name="connsiteY5" fmla="*/ 0 h 4232550"/>
              <a:gd name="connsiteX0" fmla="*/ 709 w 5551215"/>
              <a:gd name="connsiteY0" fmla="*/ 0 h 4232550"/>
              <a:gd name="connsiteX1" fmla="*/ 1485014 w 5551215"/>
              <a:gd name="connsiteY1" fmla="*/ 185 h 4232550"/>
              <a:gd name="connsiteX2" fmla="*/ 5551215 w 5551215"/>
              <a:gd name="connsiteY2" fmla="*/ 4232550 h 4232550"/>
              <a:gd name="connsiteX3" fmla="*/ 710 w 5551215"/>
              <a:gd name="connsiteY3" fmla="*/ 4220095 h 4232550"/>
              <a:gd name="connsiteX4" fmla="*/ 709 w 5551215"/>
              <a:gd name="connsiteY4" fmla="*/ 0 h 4232550"/>
              <a:gd name="connsiteX0" fmla="*/ 709 w 5551215"/>
              <a:gd name="connsiteY0" fmla="*/ 0 h 4224599"/>
              <a:gd name="connsiteX1" fmla="*/ 1485014 w 5551215"/>
              <a:gd name="connsiteY1" fmla="*/ 185 h 4224599"/>
              <a:gd name="connsiteX2" fmla="*/ 5551215 w 5551215"/>
              <a:gd name="connsiteY2" fmla="*/ 4224599 h 4224599"/>
              <a:gd name="connsiteX3" fmla="*/ 710 w 5551215"/>
              <a:gd name="connsiteY3" fmla="*/ 4220095 h 4224599"/>
              <a:gd name="connsiteX4" fmla="*/ 709 w 5551215"/>
              <a:gd name="connsiteY4" fmla="*/ 0 h 4224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1215" h="4224599">
                <a:moveTo>
                  <a:pt x="709" y="0"/>
                </a:moveTo>
                <a:lnTo>
                  <a:pt x="1485014" y="185"/>
                </a:lnTo>
                <a:lnTo>
                  <a:pt x="5551215" y="4224599"/>
                </a:lnTo>
                <a:lnTo>
                  <a:pt x="710" y="4220095"/>
                </a:lnTo>
                <a:cubicBezTo>
                  <a:pt x="-1748" y="2818313"/>
                  <a:pt x="3167" y="1401782"/>
                  <a:pt x="709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de-DE"/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21" name="Grafik 20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30108"/>
            <a:ext cx="1468046" cy="544572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51"/>
            <a:ext cx="1764000" cy="51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318043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el und ein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Add Title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74711" y="1484313"/>
            <a:ext cx="10580688" cy="4344987"/>
          </a:xfrm>
        </p:spPr>
        <p:txBody>
          <a:bodyPr/>
          <a:lstStyle>
            <a:lvl1pPr>
              <a:spcBef>
                <a:spcPts val="1200"/>
              </a:spcBef>
              <a:defRPr/>
            </a:lvl1pPr>
            <a:lvl3pPr>
              <a:spcBef>
                <a:spcPts val="1200"/>
              </a:spcBef>
              <a:defRPr/>
            </a:lvl3pPr>
          </a:lstStyle>
          <a:p>
            <a:pPr lvl="0"/>
            <a:r>
              <a:rPr lang="de-DE" dirty="0"/>
              <a:t>Add </a:t>
            </a:r>
            <a:r>
              <a:rPr lang="de-DE" dirty="0" err="1"/>
              <a:t>text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28119933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2 Inhalt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481138"/>
            <a:ext cx="5195887" cy="436086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Inhaltsplatzhalter 3"/>
          <p:cNvSpPr>
            <a:spLocks noGrp="1"/>
          </p:cNvSpPr>
          <p:nvPr>
            <p:ph sz="quarter" idx="15"/>
          </p:nvPr>
        </p:nvSpPr>
        <p:spPr>
          <a:xfrm>
            <a:off x="6267450" y="1481138"/>
            <a:ext cx="5195887" cy="436086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7373242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6267449" y="1484314"/>
            <a:ext cx="5187950" cy="434498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484313"/>
            <a:ext cx="5195887" cy="4357687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170242763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8070849" y="1484314"/>
            <a:ext cx="3384549" cy="434498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484313"/>
            <a:ext cx="6999287" cy="4357687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39803747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 und Bild_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0" y="4101152"/>
            <a:ext cx="12191999" cy="2028186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484313"/>
            <a:ext cx="10580687" cy="2398475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4580503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 und Bild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8070849" y="1484314"/>
            <a:ext cx="4121151" cy="4645024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484313"/>
            <a:ext cx="6999287" cy="4357687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097579242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5"/>
            <a:ext cx="10580687" cy="68421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3"/>
          </p:nvPr>
        </p:nvSpPr>
        <p:spPr>
          <a:xfrm>
            <a:off x="874713" y="1481138"/>
            <a:ext cx="3398837" cy="436086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Inhaltsplatzhalter 3"/>
          <p:cNvSpPr>
            <a:spLocks noGrp="1"/>
          </p:cNvSpPr>
          <p:nvPr>
            <p:ph sz="quarter" idx="14"/>
          </p:nvPr>
        </p:nvSpPr>
        <p:spPr>
          <a:xfrm>
            <a:off x="4457699" y="1481138"/>
            <a:ext cx="3416301" cy="436086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Inhaltsplatzhalter 3"/>
          <p:cNvSpPr>
            <a:spLocks noGrp="1"/>
          </p:cNvSpPr>
          <p:nvPr>
            <p:ph sz="quarter" idx="15"/>
          </p:nvPr>
        </p:nvSpPr>
        <p:spPr>
          <a:xfrm>
            <a:off x="8070850" y="1481138"/>
            <a:ext cx="3384550" cy="436086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43359633"/>
      </p:ext>
    </p:extLst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874711" y="1484313"/>
            <a:ext cx="4300539" cy="1332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4"/>
          </p:nvPr>
        </p:nvSpPr>
        <p:spPr>
          <a:xfrm>
            <a:off x="874712" y="2943181"/>
            <a:ext cx="4300537" cy="1332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Bildplatzhalter 7"/>
          <p:cNvSpPr>
            <a:spLocks noGrp="1"/>
          </p:cNvSpPr>
          <p:nvPr>
            <p:ph type="pic" sz="quarter" idx="15"/>
          </p:nvPr>
        </p:nvSpPr>
        <p:spPr>
          <a:xfrm>
            <a:off x="874710" y="4402050"/>
            <a:ext cx="4300537" cy="1427249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6"/>
          </p:nvPr>
        </p:nvSpPr>
        <p:spPr>
          <a:xfrm>
            <a:off x="5365750" y="1484313"/>
            <a:ext cx="6089650" cy="4357687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1138792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2 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 txBox="1">
            <a:spLocks/>
          </p:cNvSpPr>
          <p:nvPr/>
        </p:nvSpPr>
        <p:spPr>
          <a:xfrm>
            <a:off x="6267450" y="368305"/>
            <a:ext cx="5046135" cy="66214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 baseline="0">
                <a:solidFill>
                  <a:schemeClr val="tx2"/>
                </a:solidFill>
                <a:latin typeface="Open Sans" panose="020B0606030504020204" pitchFamily="34" charset="0"/>
                <a:ea typeface="+mj-ea"/>
                <a:cs typeface="+mj-cs"/>
              </a:defRPr>
            </a:lvl1pPr>
          </a:lstStyle>
          <a:p>
            <a:r>
              <a:rPr lang="de-DE" sz="2400" dirty="0">
                <a:solidFill>
                  <a:schemeClr val="accent1"/>
                </a:solidFill>
              </a:rPr>
              <a:t>Titelmasterformat durch Klicken bearbeiten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874712" y="367507"/>
            <a:ext cx="5195887" cy="662781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2"/>
          </p:nvPr>
        </p:nvSpPr>
        <p:spPr>
          <a:xfrm>
            <a:off x="874713" y="1484313"/>
            <a:ext cx="5195887" cy="4357687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Inhaltsplatzhalter 3"/>
          <p:cNvSpPr>
            <a:spLocks noGrp="1"/>
          </p:cNvSpPr>
          <p:nvPr>
            <p:ph sz="quarter" idx="13"/>
          </p:nvPr>
        </p:nvSpPr>
        <p:spPr>
          <a:xfrm>
            <a:off x="6273895" y="1486586"/>
            <a:ext cx="5195887" cy="4357687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676531681"/>
      </p:ext>
    </p:extLst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und 18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9" name="Bildplatzhalter 2"/>
          <p:cNvSpPr>
            <a:spLocks noGrp="1"/>
          </p:cNvSpPr>
          <p:nvPr>
            <p:ph type="pic" sz="quarter" idx="10"/>
          </p:nvPr>
        </p:nvSpPr>
        <p:spPr>
          <a:xfrm>
            <a:off x="879785" y="1039484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0" name="Bildplatzhalter 2"/>
          <p:cNvSpPr>
            <a:spLocks noGrp="1"/>
          </p:cNvSpPr>
          <p:nvPr>
            <p:ph type="pic" sz="quarter" idx="11"/>
          </p:nvPr>
        </p:nvSpPr>
        <p:spPr>
          <a:xfrm>
            <a:off x="2579023" y="1039484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1" name="Bildplatzhalter 2"/>
          <p:cNvSpPr>
            <a:spLocks noGrp="1"/>
          </p:cNvSpPr>
          <p:nvPr>
            <p:ph type="pic" sz="quarter" idx="12"/>
          </p:nvPr>
        </p:nvSpPr>
        <p:spPr>
          <a:xfrm>
            <a:off x="4278261" y="1039484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2" name="Bildplatzhalter 2"/>
          <p:cNvSpPr>
            <a:spLocks noGrp="1"/>
          </p:cNvSpPr>
          <p:nvPr>
            <p:ph type="pic" sz="quarter" idx="13"/>
          </p:nvPr>
        </p:nvSpPr>
        <p:spPr>
          <a:xfrm>
            <a:off x="5977499" y="1039484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3" name="Bildplatzhalter 2"/>
          <p:cNvSpPr>
            <a:spLocks noGrp="1"/>
          </p:cNvSpPr>
          <p:nvPr>
            <p:ph type="pic" sz="quarter" idx="14"/>
          </p:nvPr>
        </p:nvSpPr>
        <p:spPr>
          <a:xfrm>
            <a:off x="7676735" y="1037468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4" name="Bildplatzhalter 2"/>
          <p:cNvSpPr>
            <a:spLocks noGrp="1"/>
          </p:cNvSpPr>
          <p:nvPr>
            <p:ph type="pic" sz="quarter" idx="15"/>
          </p:nvPr>
        </p:nvSpPr>
        <p:spPr>
          <a:xfrm>
            <a:off x="887333" y="274907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5" name="Bildplatzhalter 2"/>
          <p:cNvSpPr>
            <a:spLocks noGrp="1"/>
          </p:cNvSpPr>
          <p:nvPr>
            <p:ph type="pic" sz="quarter" idx="16"/>
          </p:nvPr>
        </p:nvSpPr>
        <p:spPr>
          <a:xfrm>
            <a:off x="2586571" y="274907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6" name="Bildplatzhalter 2"/>
          <p:cNvSpPr>
            <a:spLocks noGrp="1"/>
          </p:cNvSpPr>
          <p:nvPr>
            <p:ph type="pic" sz="quarter" idx="17"/>
          </p:nvPr>
        </p:nvSpPr>
        <p:spPr>
          <a:xfrm>
            <a:off x="4285809" y="274907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7" name="Bildplatzhalter 2"/>
          <p:cNvSpPr>
            <a:spLocks noGrp="1"/>
          </p:cNvSpPr>
          <p:nvPr>
            <p:ph type="pic" sz="quarter" idx="18"/>
          </p:nvPr>
        </p:nvSpPr>
        <p:spPr>
          <a:xfrm>
            <a:off x="5985047" y="274907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8" name="Bildplatzhalter 2"/>
          <p:cNvSpPr>
            <a:spLocks noGrp="1"/>
          </p:cNvSpPr>
          <p:nvPr>
            <p:ph type="pic" sz="quarter" idx="19"/>
          </p:nvPr>
        </p:nvSpPr>
        <p:spPr>
          <a:xfrm>
            <a:off x="7684283" y="2747059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9" name="Bildplatzhalter 2"/>
          <p:cNvSpPr>
            <a:spLocks noGrp="1"/>
          </p:cNvSpPr>
          <p:nvPr>
            <p:ph type="pic" sz="quarter" idx="20"/>
          </p:nvPr>
        </p:nvSpPr>
        <p:spPr>
          <a:xfrm>
            <a:off x="885829" y="444961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0" name="Bildplatzhalter 2"/>
          <p:cNvSpPr>
            <a:spLocks noGrp="1"/>
          </p:cNvSpPr>
          <p:nvPr>
            <p:ph type="pic" sz="quarter" idx="21"/>
          </p:nvPr>
        </p:nvSpPr>
        <p:spPr>
          <a:xfrm>
            <a:off x="2585067" y="444961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1" name="Bildplatzhalter 2"/>
          <p:cNvSpPr>
            <a:spLocks noGrp="1"/>
          </p:cNvSpPr>
          <p:nvPr>
            <p:ph type="pic" sz="quarter" idx="22"/>
          </p:nvPr>
        </p:nvSpPr>
        <p:spPr>
          <a:xfrm>
            <a:off x="4284305" y="444961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2" name="Bildplatzhalter 2"/>
          <p:cNvSpPr>
            <a:spLocks noGrp="1"/>
          </p:cNvSpPr>
          <p:nvPr>
            <p:ph type="pic" sz="quarter" idx="23"/>
          </p:nvPr>
        </p:nvSpPr>
        <p:spPr>
          <a:xfrm>
            <a:off x="5983543" y="444961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3" name="Bildplatzhalter 2"/>
          <p:cNvSpPr>
            <a:spLocks noGrp="1"/>
          </p:cNvSpPr>
          <p:nvPr>
            <p:ph type="pic" sz="quarter" idx="24"/>
          </p:nvPr>
        </p:nvSpPr>
        <p:spPr>
          <a:xfrm>
            <a:off x="7682779" y="4447599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4" name="Bildplatzhalter 2"/>
          <p:cNvSpPr>
            <a:spLocks noGrp="1"/>
          </p:cNvSpPr>
          <p:nvPr>
            <p:ph type="pic" sz="quarter" idx="25"/>
          </p:nvPr>
        </p:nvSpPr>
        <p:spPr>
          <a:xfrm>
            <a:off x="9385079" y="1037468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5" name="Bildplatzhalter 2"/>
          <p:cNvSpPr>
            <a:spLocks noGrp="1"/>
          </p:cNvSpPr>
          <p:nvPr>
            <p:ph type="pic" sz="quarter" idx="26"/>
          </p:nvPr>
        </p:nvSpPr>
        <p:spPr>
          <a:xfrm>
            <a:off x="9385079" y="2747059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6" name="Bildplatzhalter 2"/>
          <p:cNvSpPr>
            <a:spLocks noGrp="1"/>
          </p:cNvSpPr>
          <p:nvPr>
            <p:ph type="pic" sz="quarter" idx="27"/>
          </p:nvPr>
        </p:nvSpPr>
        <p:spPr>
          <a:xfrm>
            <a:off x="9383575" y="4447599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9847689"/>
      </p:ext>
    </p:extLst>
  </p:cSld>
  <p:clrMapOvr>
    <a:masterClrMapping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und 8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879785" y="1030288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9" name="Bildplatzhalter 2"/>
          <p:cNvSpPr>
            <a:spLocks noGrp="1"/>
          </p:cNvSpPr>
          <p:nvPr>
            <p:ph type="pic" sz="quarter" idx="11"/>
          </p:nvPr>
        </p:nvSpPr>
        <p:spPr>
          <a:xfrm>
            <a:off x="3575257" y="1030288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2"/>
          <p:cNvSpPr>
            <a:spLocks noGrp="1"/>
          </p:cNvSpPr>
          <p:nvPr>
            <p:ph type="pic" sz="quarter" idx="12"/>
          </p:nvPr>
        </p:nvSpPr>
        <p:spPr>
          <a:xfrm>
            <a:off x="6270729" y="1030288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3"/>
          </p:nvPr>
        </p:nvSpPr>
        <p:spPr>
          <a:xfrm>
            <a:off x="8966200" y="1030288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2" name="Bildplatzhalter 2"/>
          <p:cNvSpPr>
            <a:spLocks noGrp="1"/>
          </p:cNvSpPr>
          <p:nvPr>
            <p:ph type="pic" sz="quarter" idx="14"/>
          </p:nvPr>
        </p:nvSpPr>
        <p:spPr>
          <a:xfrm>
            <a:off x="880142" y="3572347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3" name="Bildplatzhalter 2"/>
          <p:cNvSpPr>
            <a:spLocks noGrp="1"/>
          </p:cNvSpPr>
          <p:nvPr>
            <p:ph type="pic" sz="quarter" idx="15"/>
          </p:nvPr>
        </p:nvSpPr>
        <p:spPr>
          <a:xfrm>
            <a:off x="3575614" y="3572347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6"/>
          </p:nvPr>
        </p:nvSpPr>
        <p:spPr>
          <a:xfrm>
            <a:off x="6271086" y="3572347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5" name="Bildplatzhalter 2"/>
          <p:cNvSpPr>
            <a:spLocks noGrp="1"/>
          </p:cNvSpPr>
          <p:nvPr>
            <p:ph type="pic" sz="quarter" idx="17"/>
          </p:nvPr>
        </p:nvSpPr>
        <p:spPr>
          <a:xfrm>
            <a:off x="8966557" y="3572347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260595210"/>
      </p:ext>
    </p:extLst>
  </p:cSld>
  <p:clrMapOvr>
    <a:masterClrMapping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und 6 Bilder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2"/>
          </p:nvPr>
        </p:nvSpPr>
        <p:spPr>
          <a:xfrm>
            <a:off x="9703" y="105758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3"/>
          </p:nvPr>
        </p:nvSpPr>
        <p:spPr>
          <a:xfrm>
            <a:off x="4081331" y="105758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Bildplatzhalter 2"/>
          <p:cNvSpPr>
            <a:spLocks noGrp="1"/>
          </p:cNvSpPr>
          <p:nvPr>
            <p:ph type="pic" sz="quarter" idx="14"/>
          </p:nvPr>
        </p:nvSpPr>
        <p:spPr>
          <a:xfrm>
            <a:off x="8152960" y="105758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6" name="Bildplatzhalter 2"/>
          <p:cNvSpPr>
            <a:spLocks noGrp="1"/>
          </p:cNvSpPr>
          <p:nvPr>
            <p:ph type="pic" sz="quarter" idx="15"/>
          </p:nvPr>
        </p:nvSpPr>
        <p:spPr>
          <a:xfrm>
            <a:off x="5151" y="360251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7" name="Bildplatzhalter 2"/>
          <p:cNvSpPr>
            <a:spLocks noGrp="1"/>
          </p:cNvSpPr>
          <p:nvPr>
            <p:ph type="pic" sz="quarter" idx="16"/>
          </p:nvPr>
        </p:nvSpPr>
        <p:spPr>
          <a:xfrm>
            <a:off x="4076779" y="360251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8" name="Bildplatzhalter 2"/>
          <p:cNvSpPr>
            <a:spLocks noGrp="1"/>
          </p:cNvSpPr>
          <p:nvPr>
            <p:ph type="pic" sz="quarter" idx="17"/>
          </p:nvPr>
        </p:nvSpPr>
        <p:spPr>
          <a:xfrm>
            <a:off x="8148408" y="360251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3458194"/>
      </p:ext>
    </p:extLst>
  </p:cSld>
  <p:clrMapOvr>
    <a:masterClrMapping/>
  </p:clrMapOvr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15000380"/>
      </p:ext>
    </p:extLst>
  </p:cSld>
  <p:clrMapOvr>
    <a:masterClrMapping/>
  </p:clrMapOvr>
  <p:hf hd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0"/>
          </p:nvPr>
        </p:nvSpPr>
        <p:spPr>
          <a:xfrm>
            <a:off x="0" y="1030288"/>
            <a:ext cx="12192000" cy="509905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258956533"/>
      </p:ext>
    </p:extLst>
  </p:cSld>
  <p:clrMapOvr>
    <a:masterClrMapping/>
  </p:clrMapOvr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6"/>
            <a:ext cx="12192000" cy="612933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679611084"/>
      </p:ext>
    </p:extLst>
  </p:cSld>
  <p:clrMapOvr>
    <a:masterClrMapping/>
  </p:clrMapOvr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0" y="2"/>
            <a:ext cx="12192000" cy="6129336"/>
          </a:xfrm>
          <a:prstGeom prst="rect">
            <a:avLst/>
          </a:prstGeom>
          <a:gradFill>
            <a:gsLst>
              <a:gs pos="14000">
                <a:schemeClr val="accent2"/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694293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2470678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0" y="2"/>
            <a:ext cx="12192000" cy="6129336"/>
          </a:xfrm>
          <a:prstGeom prst="rect">
            <a:avLst/>
          </a:prstGeom>
          <a:gradFill>
            <a:gsLst>
              <a:gs pos="14000">
                <a:schemeClr val="accent2"/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059359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0" y="2"/>
            <a:ext cx="12192000" cy="6129336"/>
          </a:xfrm>
          <a:prstGeom prst="rect">
            <a:avLst/>
          </a:prstGeom>
          <a:gradFill>
            <a:gsLst>
              <a:gs pos="14000">
                <a:schemeClr val="accent5"/>
              </a:gs>
              <a:gs pos="100000">
                <a:schemeClr val="accent4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694293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428418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2933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823237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74712" y="346075"/>
            <a:ext cx="10580687" cy="68421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Das ist eine Überschrift</a:t>
            </a:r>
            <a:br>
              <a:rPr lang="de-DE" dirty="0"/>
            </a:br>
            <a:r>
              <a:rPr lang="de-DE" dirty="0"/>
              <a:t>in zwei Zeilen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74712" y="1481138"/>
            <a:ext cx="10580687" cy="436086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Erste Textebene (16pt bis Ebene 4)</a:t>
            </a:r>
          </a:p>
          <a:p>
            <a:pPr lvl="1"/>
            <a:r>
              <a:rPr lang="de-DE" dirty="0"/>
              <a:t>Zweite Textebene für Aufzählungen</a:t>
            </a:r>
          </a:p>
          <a:p>
            <a:pPr lvl="2"/>
            <a:r>
              <a:rPr lang="de-DE" dirty="0"/>
              <a:t>Dritte Textebene bei viel Text (14pt)</a:t>
            </a:r>
          </a:p>
          <a:p>
            <a:pPr lvl="3"/>
            <a:r>
              <a:rPr lang="de-DE" dirty="0"/>
              <a:t>Vierte Textebene für Aufzählungen bei viel Text</a:t>
            </a:r>
          </a:p>
          <a:p>
            <a:pPr lvl="4"/>
            <a:r>
              <a:rPr lang="de-DE" dirty="0"/>
              <a:t>Fünfte Ebene (nachfolgend alles 14 </a:t>
            </a:r>
            <a:r>
              <a:rPr lang="de-DE" dirty="0" err="1"/>
              <a:t>pt</a:t>
            </a:r>
            <a:r>
              <a:rPr lang="de-DE" dirty="0"/>
              <a:t>)</a:t>
            </a:r>
          </a:p>
          <a:p>
            <a:pPr lvl="5"/>
            <a:r>
              <a:rPr lang="de-DE" dirty="0"/>
              <a:t>Sechste Textebene für Aufzählungen bei viel Text</a:t>
            </a:r>
          </a:p>
          <a:p>
            <a:pPr lvl="6"/>
            <a:r>
              <a:rPr lang="de-DE" dirty="0"/>
              <a:t>Siebte Textebene für Aufzählungen bei viel Text</a:t>
            </a:r>
          </a:p>
          <a:p>
            <a:pPr lvl="7"/>
            <a:r>
              <a:rPr lang="de-DE" dirty="0"/>
              <a:t>Achte Textebene für Aufzählungen bei viel Text</a:t>
            </a:r>
          </a:p>
          <a:p>
            <a:pPr lvl="8"/>
            <a:r>
              <a:rPr lang="de-DE" dirty="0"/>
              <a:t>Neunte Textebene für Aufzählungen bei viel Text</a:t>
            </a:r>
          </a:p>
          <a:p>
            <a:pPr lvl="5"/>
            <a:endParaRPr lang="de-DE" dirty="0"/>
          </a:p>
        </p:txBody>
      </p:sp>
      <p:sp>
        <p:nvSpPr>
          <p:cNvPr id="4" name="Textfeld 3"/>
          <p:cNvSpPr txBox="1"/>
          <p:nvPr userDrawn="1"/>
        </p:nvSpPr>
        <p:spPr>
          <a:xfrm>
            <a:off x="2477770" y="6319797"/>
            <a:ext cx="4876341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800" dirty="0">
                <a:solidFill>
                  <a:schemeClr val="tx2"/>
                </a:solidFill>
              </a:rPr>
              <a:t>Automatisierte Wissensgraph-Erstellung per Multi-Objekterkennung für einen KI-Wartungsassistenten</a:t>
            </a:r>
            <a:br>
              <a:rPr lang="de-DE" sz="800" dirty="0">
                <a:solidFill>
                  <a:schemeClr val="tx2"/>
                </a:solidFill>
              </a:rPr>
            </a:br>
            <a:r>
              <a:rPr lang="de-DE" sz="800" dirty="0">
                <a:solidFill>
                  <a:schemeClr val="tx2"/>
                </a:solidFill>
              </a:rPr>
              <a:t>Chair </a:t>
            </a:r>
            <a:r>
              <a:rPr lang="de-DE" sz="800" dirty="0" err="1">
                <a:solidFill>
                  <a:schemeClr val="tx2"/>
                </a:solidFill>
              </a:rPr>
              <a:t>of</a:t>
            </a:r>
            <a:r>
              <a:rPr lang="de-DE" sz="800" dirty="0">
                <a:solidFill>
                  <a:schemeClr val="tx2"/>
                </a:solidFill>
              </a:rPr>
              <a:t> Software Technology / Robin Morgenstern</a:t>
            </a:r>
            <a:br>
              <a:rPr lang="de-DE" sz="800" dirty="0">
                <a:solidFill>
                  <a:schemeClr val="tx2"/>
                </a:solidFill>
              </a:rPr>
            </a:br>
            <a:r>
              <a:rPr lang="de-DE" sz="800" dirty="0">
                <a:solidFill>
                  <a:schemeClr val="tx2"/>
                </a:solidFill>
              </a:rPr>
              <a:t>Bachelorarbeit Verteidigung // 30.10.2025</a:t>
            </a:r>
            <a:endParaRPr lang="de-DE" sz="8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7637618" y="6306444"/>
            <a:ext cx="704850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de-DE" sz="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de-DE" sz="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Seite</a:t>
            </a:r>
            <a:r>
              <a:rPr lang="de-DE" sz="800" baseline="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fld id="{38F97D41-8991-4148-BA02-56FEE4AAF2CC}" type="slidenum">
              <a:rPr lang="de-DE" sz="800" baseline="0" smtClean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marL="0" marR="0" lvl="0" indent="0" algn="l" defTabSz="9142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de-DE" sz="800" baseline="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8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5" y="6334183"/>
            <a:ext cx="1116268" cy="323730"/>
          </a:xfrm>
          <a:prstGeom prst="rect">
            <a:avLst/>
          </a:prstGeom>
        </p:spPr>
      </p:pic>
      <p:pic>
        <p:nvPicPr>
          <p:cNvPr id="11" name="Grafik 10" descr="Ein Bild, das Schrift, Text, Logo, Grafiken enthält.&#10;&#10;KI-generierte Inhalte können fehlerhaft sein.">
            <a:extLst>
              <a:ext uri="{FF2B5EF4-FFF2-40B4-BE49-F238E27FC236}">
                <a16:creationId xmlns:a16="http://schemas.microsoft.com/office/drawing/2014/main" id="{32039018-88C7-ED32-2DF0-6E256D57016F}"/>
              </a:ext>
            </a:extLst>
          </p:cNvPr>
          <p:cNvPicPr>
            <a:picLocks noChangeAspect="1"/>
          </p:cNvPicPr>
          <p:nvPr userDrawn="1"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0291" y="6168892"/>
            <a:ext cx="506884" cy="50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890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904" r:id="rId2"/>
    <p:sldLayoutId id="2147483905" r:id="rId3"/>
    <p:sldLayoutId id="2147483893" r:id="rId4"/>
    <p:sldLayoutId id="2147483906" r:id="rId5"/>
    <p:sldLayoutId id="2147483907" r:id="rId6"/>
    <p:sldLayoutId id="2147483908" r:id="rId7"/>
    <p:sldLayoutId id="2147483909" r:id="rId8"/>
    <p:sldLayoutId id="2147483910" r:id="rId9"/>
    <p:sldLayoutId id="2147483911" r:id="rId10"/>
    <p:sldLayoutId id="2147483912" r:id="rId11"/>
    <p:sldLayoutId id="2147483894" r:id="rId12"/>
    <p:sldLayoutId id="2147483913" r:id="rId13"/>
    <p:sldLayoutId id="2147483897" r:id="rId14"/>
    <p:sldLayoutId id="2147483914" r:id="rId15"/>
    <p:sldLayoutId id="2147483915" r:id="rId16"/>
    <p:sldLayoutId id="2147483916" r:id="rId17"/>
    <p:sldLayoutId id="2147483899" r:id="rId18"/>
    <p:sldLayoutId id="2147483896" r:id="rId19"/>
    <p:sldLayoutId id="2147483900" r:id="rId20"/>
    <p:sldLayoutId id="2147483901" r:id="rId21"/>
    <p:sldLayoutId id="2147483918" r:id="rId22"/>
    <p:sldLayoutId id="2147483919" r:id="rId23"/>
    <p:sldLayoutId id="2147483917" r:id="rId24"/>
    <p:sldLayoutId id="2147483902" r:id="rId25"/>
    <p:sldLayoutId id="2147483903" r:id="rId26"/>
    <p:sldLayoutId id="2147483895" r:id="rId27"/>
    <p:sldLayoutId id="2147483920" r:id="rId28"/>
    <p:sldLayoutId id="2147483921" r:id="rId29"/>
    <p:sldLayoutId id="2147483922" r:id="rId30"/>
  </p:sldLayoutIdLst>
  <p:hf hdr="0"/>
  <p:txStyles>
    <p:titleStyle>
      <a:lvl1pPr algn="l" defTabSz="914269" rtl="0" eaLnBrk="1" latinLnBrk="0" hangingPunct="1">
        <a:spcBef>
          <a:spcPct val="0"/>
        </a:spcBef>
        <a:buNone/>
        <a:defRPr sz="2400" b="1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269" rtl="0" eaLnBrk="1" latinLnBrk="0" hangingPunct="1">
        <a:spcBef>
          <a:spcPts val="600"/>
        </a:spcBef>
        <a:buFont typeface="Arial" panose="020B0604020202020204" pitchFamily="34" charset="0"/>
        <a:buNone/>
        <a:defRPr sz="1600" b="1" kern="1200">
          <a:solidFill>
            <a:schemeClr val="accent1"/>
          </a:solidFill>
          <a:latin typeface="+mn-lt"/>
          <a:ea typeface="+mn-ea"/>
          <a:cs typeface="+mn-cs"/>
        </a:defRPr>
      </a:lvl1pPr>
      <a:lvl2pPr marL="0" indent="0" algn="l" defTabSz="914269" rtl="0" eaLnBrk="1" latinLnBrk="0" hangingPunct="1">
        <a:spcBef>
          <a:spcPts val="600"/>
        </a:spcBef>
        <a:buFont typeface="Open Sans" panose="020B0606030504020204" pitchFamily="34" charset="0"/>
        <a:buNone/>
        <a:defRPr sz="16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252000" indent="-252000" algn="l" defTabSz="914269" rtl="0" eaLnBrk="1" latinLnBrk="0" hangingPunct="1">
        <a:spcBef>
          <a:spcPts val="0"/>
        </a:spcBef>
        <a:buFont typeface="Arial" panose="020B0604020202020204" pitchFamily="34" charset="0"/>
        <a:buChar char="—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252000" indent="-144000" algn="l" defTabSz="914269" rtl="0" eaLnBrk="1" latinLnBrk="0" hangingPunct="1">
        <a:spcBef>
          <a:spcPts val="0"/>
        </a:spcBef>
        <a:buFont typeface="Open Sans" panose="020B0606030504020204" pitchFamily="34" charset="0"/>
        <a:buChar char="–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0" indent="0" algn="l" defTabSz="914269" rtl="0" eaLnBrk="1" latinLnBrk="0" hangingPunct="1">
        <a:spcBef>
          <a:spcPts val="600"/>
        </a:spcBef>
        <a:spcAft>
          <a:spcPts val="0"/>
        </a:spcAft>
        <a:buFont typeface="Symbol" panose="05050102010706020507" pitchFamily="18" charset="2"/>
        <a:buNone/>
        <a:defRPr sz="1400" b="1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0" marR="0" indent="0" algn="l" defTabSz="914269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400" b="0" kern="1200">
          <a:solidFill>
            <a:schemeClr val="accent1"/>
          </a:solidFill>
          <a:latin typeface="+mn-lt"/>
          <a:ea typeface="+mn-ea"/>
          <a:cs typeface="+mn-cs"/>
        </a:defRPr>
      </a:lvl6pPr>
      <a:lvl7pPr marL="252000" marR="0" indent="-252000" algn="l" defTabSz="914269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Char char="—"/>
        <a:tabLst/>
        <a:defRPr lang="de-DE" sz="1400" kern="1200" dirty="0" smtClean="0">
          <a:solidFill>
            <a:schemeClr val="accent1"/>
          </a:solidFill>
          <a:latin typeface="+mn-lt"/>
          <a:ea typeface="+mn-ea"/>
          <a:cs typeface="+mn-cs"/>
        </a:defRPr>
      </a:lvl7pPr>
      <a:lvl8pPr marL="252000" marR="0" indent="-144000" algn="l" defTabSz="914269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Open Sans" panose="020B0606030504020204" pitchFamily="34" charset="0"/>
        <a:buChar char="–"/>
        <a:tabLst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396000" marR="0" indent="-144000" algn="l" defTabSz="914269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Wingdings" panose="05000000000000000000" pitchFamily="2" charset="2"/>
        <a:buChar char="§"/>
        <a:tabLst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5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9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2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34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7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03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36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7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992">
          <p15:clr>
            <a:srgbClr val="F26B43"/>
          </p15:clr>
        </p15:guide>
        <p15:guide id="7" pos="1120">
          <p15:clr>
            <a:srgbClr val="F26B43"/>
          </p15:clr>
        </p15:guide>
        <p15:guide id="8" pos="1676">
          <p15:clr>
            <a:srgbClr val="F26B43"/>
          </p15:clr>
        </p15:guide>
        <p15:guide id="9" pos="1556">
          <p15:clr>
            <a:srgbClr val="F26B43"/>
          </p15:clr>
        </p15:guide>
        <p15:guide id="10" pos="2252">
          <p15:clr>
            <a:srgbClr val="F26B43"/>
          </p15:clr>
        </p15:guide>
        <p15:guide id="11" pos="2128">
          <p15:clr>
            <a:srgbClr val="F26B43"/>
          </p15:clr>
        </p15:guide>
        <p15:guide id="16" pos="3824">
          <p15:clr>
            <a:srgbClr val="F26B43"/>
          </p15:clr>
        </p15:guide>
        <p15:guide id="17" pos="3948">
          <p15:clr>
            <a:srgbClr val="F26B43"/>
          </p15:clr>
        </p15:guide>
        <p15:guide id="20" pos="4384">
          <p15:clr>
            <a:srgbClr val="F26B43"/>
          </p15:clr>
        </p15:guide>
        <p15:guide id="21" pos="4508">
          <p15:clr>
            <a:srgbClr val="F26B43"/>
          </p15:clr>
        </p15:guide>
        <p15:guide id="22" pos="6788" userDrawn="1">
          <p15:clr>
            <a:srgbClr val="F26B43"/>
          </p15:clr>
        </p15:guide>
        <p15:guide id="23" pos="6656">
          <p15:clr>
            <a:srgbClr val="F26B43"/>
          </p15:clr>
        </p15:guide>
        <p15:guide id="24" pos="4960">
          <p15:clr>
            <a:srgbClr val="F26B43"/>
          </p15:clr>
        </p15:guide>
        <p15:guide id="25" pos="5084">
          <p15:clr>
            <a:srgbClr val="F26B43"/>
          </p15:clr>
        </p15:guide>
        <p15:guide id="30" orient="horz" pos="538">
          <p15:clr>
            <a:srgbClr val="F26B43"/>
          </p15:clr>
        </p15:guide>
        <p15:guide id="31" pos="551">
          <p15:clr>
            <a:srgbClr val="F26B43"/>
          </p15:clr>
        </p15:guide>
        <p15:guide id="39" pos="6085" userDrawn="1">
          <p15:clr>
            <a:srgbClr val="F26B43"/>
          </p15:clr>
        </p15:guide>
        <p15:guide id="40" pos="6216">
          <p15:clr>
            <a:srgbClr val="F26B43"/>
          </p15:clr>
        </p15:guide>
        <p15:guide id="41" pos="2692">
          <p15:clr>
            <a:srgbClr val="F26B43"/>
          </p15:clr>
        </p15:guide>
        <p15:guide id="42" pos="2808">
          <p15:clr>
            <a:srgbClr val="F26B43"/>
          </p15:clr>
        </p15:guide>
        <p15:guide id="43" pos="3260">
          <p15:clr>
            <a:srgbClr val="F26B43"/>
          </p15:clr>
        </p15:guide>
        <p15:guide id="44" pos="3380">
          <p15:clr>
            <a:srgbClr val="F26B43"/>
          </p15:clr>
        </p15:guide>
        <p15:guide id="50" pos="5520">
          <p15:clr>
            <a:srgbClr val="F26B43"/>
          </p15:clr>
        </p15:guide>
        <p15:guide id="52" orient="horz" pos="933">
          <p15:clr>
            <a:srgbClr val="F26B43"/>
          </p15:clr>
        </p15:guide>
        <p15:guide id="53" orient="horz" pos="759">
          <p15:clr>
            <a:srgbClr val="F26B43"/>
          </p15:clr>
        </p15:guide>
        <p15:guide id="58" orient="horz" pos="218">
          <p15:clr>
            <a:srgbClr val="F26B43"/>
          </p15:clr>
        </p15:guide>
        <p15:guide id="59" orient="horz" pos="3680">
          <p15:clr>
            <a:srgbClr val="F26B43"/>
          </p15:clr>
        </p15:guide>
        <p15:guide id="60" orient="horz" pos="3861">
          <p15:clr>
            <a:srgbClr val="F26B43"/>
          </p15:clr>
        </p15:guide>
        <p15:guide id="62" orient="horz" pos="2130">
          <p15:clr>
            <a:srgbClr val="F26B43"/>
          </p15:clr>
        </p15:guide>
        <p15:guide id="65" pos="5648">
          <p15:clr>
            <a:srgbClr val="F26B43"/>
          </p15:clr>
        </p15:guide>
        <p15:guide id="66" orient="horz" pos="649">
          <p15:clr>
            <a:srgbClr val="F26B43"/>
          </p15:clr>
        </p15:guide>
        <p15:guide id="67" pos="7216">
          <p15:clr>
            <a:srgbClr val="F26B43"/>
          </p15:clr>
        </p15:guide>
        <p15:guide id="69" orient="horz" pos="3988">
          <p15:clr>
            <a:srgbClr val="F26B43"/>
          </p15:clr>
        </p15:guide>
        <p15:guide id="70" orient="horz" pos="4196">
          <p15:clr>
            <a:srgbClr val="F26B43"/>
          </p15:clr>
        </p15:guide>
        <p15:guide id="71" pos="318">
          <p15:clr>
            <a:srgbClr val="F26B43"/>
          </p15:clr>
        </p15:guide>
        <p15:guide id="72" orient="horz" pos="41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m.media-amazon.com/images/I/41AbFOdJqQL.jpg" TargetMode="External"/><Relationship Id="rId2" Type="http://schemas.openxmlformats.org/officeDocument/2006/relationships/hyperlink" Target="https://cdn1.botland.de/128235-large_default/raspberry-pi-5-2gb.jpg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beamer24.de/media/image/01/d0/9d/BenQ-LK935_Laser-Beamer_4K_5500-Lm_04.jpg" TargetMode="External"/><Relationship Id="rId5" Type="http://schemas.openxmlformats.org/officeDocument/2006/relationships/hyperlink" Target="https://upload.wikimedia.org/wikipedia/commons/1/13/ChatGPT-Logo.png" TargetMode="External"/><Relationship Id="rId4" Type="http://schemas.openxmlformats.org/officeDocument/2006/relationships/hyperlink" Target="https://marketplace.canva.com/FaoS8/MAErepFaoS8/1/tl/canva-person-icon-MAErepFaoS8.p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882808" y="2852116"/>
            <a:ext cx="2021002" cy="246221"/>
          </a:xfrm>
        </p:spPr>
        <p:txBody>
          <a:bodyPr/>
          <a:lstStyle/>
          <a:p>
            <a:r>
              <a:rPr lang="de-DE" dirty="0"/>
              <a:t>Robin Morgenstern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882771" y="3835706"/>
            <a:ext cx="5770426" cy="492443"/>
          </a:xfrm>
        </p:spPr>
        <p:txBody>
          <a:bodyPr/>
          <a:lstStyle/>
          <a:p>
            <a:r>
              <a:rPr lang="de-DE" dirty="0"/>
              <a:t>Bachelorarbeit Verteidigung</a:t>
            </a:r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1"/>
          </p:nvPr>
        </p:nvSpPr>
        <p:spPr>
          <a:xfrm>
            <a:off x="882808" y="3138045"/>
            <a:ext cx="5590505" cy="246221"/>
          </a:xfrm>
        </p:spPr>
        <p:txBody>
          <a:bodyPr/>
          <a:lstStyle/>
          <a:p>
            <a:r>
              <a:rPr lang="de-DE" dirty="0"/>
              <a:t>Faculty </a:t>
            </a:r>
            <a:r>
              <a:rPr lang="de-DE" dirty="0" err="1"/>
              <a:t>of</a:t>
            </a:r>
            <a:r>
              <a:rPr lang="de-DE" dirty="0"/>
              <a:t> Computer Science, Chair </a:t>
            </a:r>
            <a:r>
              <a:rPr lang="de-DE" dirty="0" err="1"/>
              <a:t>of</a:t>
            </a:r>
            <a:r>
              <a:rPr lang="de-DE" dirty="0"/>
              <a:t> Software Technology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2"/>
          </p:nvPr>
        </p:nvSpPr>
        <p:spPr>
          <a:xfrm>
            <a:off x="882770" y="4375609"/>
            <a:ext cx="9787551" cy="984885"/>
          </a:xfrm>
        </p:spPr>
        <p:txBody>
          <a:bodyPr/>
          <a:lstStyle/>
          <a:p>
            <a:r>
              <a:rPr lang="de-DE" dirty="0"/>
              <a:t>Automatisierte Wissensgraph-Erstellung per Multi-</a:t>
            </a:r>
            <a:br>
              <a:rPr lang="de-DE" dirty="0"/>
            </a:br>
            <a:r>
              <a:rPr lang="de-DE" dirty="0"/>
              <a:t>Objekterkennung für einen KI-Wartungsassistenten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3"/>
          </p:nvPr>
        </p:nvSpPr>
        <p:spPr>
          <a:xfrm>
            <a:off x="848151" y="5677206"/>
            <a:ext cx="1045158" cy="246221"/>
          </a:xfrm>
        </p:spPr>
        <p:txBody>
          <a:bodyPr/>
          <a:lstStyle/>
          <a:p>
            <a:r>
              <a:rPr lang="de-DE" dirty="0"/>
              <a:t>30.10.2025</a:t>
            </a:r>
          </a:p>
        </p:txBody>
      </p:sp>
    </p:spTree>
    <p:extLst>
      <p:ext uri="{BB962C8B-B14F-4D97-AF65-F5344CB8AC3E}">
        <p14:creationId xmlns:p14="http://schemas.microsoft.com/office/powerpoint/2010/main" val="868022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BCC9E6-4101-4A3A-9C33-0EB8C950A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771" y="3835706"/>
            <a:ext cx="6875280" cy="492443"/>
          </a:xfrm>
        </p:spPr>
        <p:txBody>
          <a:bodyPr/>
          <a:lstStyle/>
          <a:p>
            <a:r>
              <a:rPr lang="de-DE" dirty="0"/>
              <a:t>Motivation und Aufgabenstellung</a:t>
            </a:r>
          </a:p>
        </p:txBody>
      </p:sp>
    </p:spTree>
    <p:extLst>
      <p:ext uri="{BB962C8B-B14F-4D97-AF65-F5344CB8AC3E}">
        <p14:creationId xmlns:p14="http://schemas.microsoft.com/office/powerpoint/2010/main" val="2904755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36064B-CA18-4A4D-AF14-5F99C6E09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Überblick über das Gesamtsystem</a:t>
            </a:r>
          </a:p>
        </p:txBody>
      </p:sp>
      <p:pic>
        <p:nvPicPr>
          <p:cNvPr id="8" name="Inhaltsplatzhalter 7" descr="Ein Bild, das Text, Screenshot, Design enthält.">
            <a:extLst>
              <a:ext uri="{FF2B5EF4-FFF2-40B4-BE49-F238E27FC236}">
                <a16:creationId xmlns:a16="http://schemas.microsoft.com/office/drawing/2014/main" id="{C7EB56DE-47C5-89B3-0CF4-5A783A6B9FA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287" y="726281"/>
            <a:ext cx="9877425" cy="5556052"/>
          </a:xfrm>
        </p:spPr>
      </p:pic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CE0C289A-A4A8-660A-F54C-63358EAB5687}"/>
              </a:ext>
            </a:extLst>
          </p:cNvPr>
          <p:cNvCxnSpPr/>
          <p:nvPr/>
        </p:nvCxnSpPr>
        <p:spPr>
          <a:xfrm flipV="1">
            <a:off x="6267450" y="3152775"/>
            <a:ext cx="0" cy="80010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7DB348C6-DD26-4431-049F-F8F1A9D3F90F}"/>
              </a:ext>
            </a:extLst>
          </p:cNvPr>
          <p:cNvCxnSpPr>
            <a:cxnSpLocks/>
          </p:cNvCxnSpPr>
          <p:nvPr/>
        </p:nvCxnSpPr>
        <p:spPr>
          <a:xfrm>
            <a:off x="6562725" y="3180903"/>
            <a:ext cx="0" cy="74384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AA1AEC8B-C99C-FB5D-A3D9-D730255FAF8E}"/>
              </a:ext>
            </a:extLst>
          </p:cNvPr>
          <p:cNvCxnSpPr>
            <a:cxnSpLocks/>
          </p:cNvCxnSpPr>
          <p:nvPr/>
        </p:nvCxnSpPr>
        <p:spPr>
          <a:xfrm>
            <a:off x="7038975" y="3009900"/>
            <a:ext cx="1876425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CD52F65E-91D5-AF81-1EF2-053A8AEE3F3B}"/>
              </a:ext>
            </a:extLst>
          </p:cNvPr>
          <p:cNvCxnSpPr>
            <a:cxnSpLocks/>
          </p:cNvCxnSpPr>
          <p:nvPr/>
        </p:nvCxnSpPr>
        <p:spPr>
          <a:xfrm flipH="1" flipV="1">
            <a:off x="7977187" y="1604864"/>
            <a:ext cx="1843088" cy="46206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1BE1FBC2-C848-12ED-697D-FE3E81F42578}"/>
              </a:ext>
            </a:extLst>
          </p:cNvPr>
          <p:cNvCxnSpPr>
            <a:cxnSpLocks/>
          </p:cNvCxnSpPr>
          <p:nvPr/>
        </p:nvCxnSpPr>
        <p:spPr>
          <a:xfrm flipH="1">
            <a:off x="3076575" y="1604864"/>
            <a:ext cx="1771650" cy="60295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3DD6543E-D9CE-C5F2-E21D-78F9DCA561CB}"/>
              </a:ext>
            </a:extLst>
          </p:cNvPr>
          <p:cNvCxnSpPr>
            <a:cxnSpLocks/>
          </p:cNvCxnSpPr>
          <p:nvPr/>
        </p:nvCxnSpPr>
        <p:spPr>
          <a:xfrm>
            <a:off x="2638425" y="3419475"/>
            <a:ext cx="0" cy="93345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27E4ABF0-0317-D666-4CE3-F1D1E19CB576}"/>
              </a:ext>
            </a:extLst>
          </p:cNvPr>
          <p:cNvCxnSpPr>
            <a:cxnSpLocks/>
          </p:cNvCxnSpPr>
          <p:nvPr/>
        </p:nvCxnSpPr>
        <p:spPr>
          <a:xfrm flipV="1">
            <a:off x="2390775" y="3390899"/>
            <a:ext cx="0" cy="96202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CD19C4B8-50AA-96F3-01A6-92FBFDA2FA86}"/>
              </a:ext>
            </a:extLst>
          </p:cNvPr>
          <p:cNvCxnSpPr>
            <a:cxnSpLocks/>
          </p:cNvCxnSpPr>
          <p:nvPr/>
        </p:nvCxnSpPr>
        <p:spPr>
          <a:xfrm>
            <a:off x="3076575" y="2589460"/>
            <a:ext cx="2867025" cy="33471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92980B28-17A3-12BD-CE72-19CA423454B1}"/>
              </a:ext>
            </a:extLst>
          </p:cNvPr>
          <p:cNvCxnSpPr>
            <a:cxnSpLocks/>
          </p:cNvCxnSpPr>
          <p:nvPr/>
        </p:nvCxnSpPr>
        <p:spPr>
          <a:xfrm flipV="1">
            <a:off x="8377236" y="3974604"/>
            <a:ext cx="752476" cy="400050"/>
          </a:xfrm>
          <a:prstGeom prst="line">
            <a:avLst/>
          </a:prstGeom>
          <a:ln>
            <a:solidFill>
              <a:srgbClr val="000000">
                <a:alpha val="50196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C791E4A5-D73E-C2E9-99E4-801A0AE7EE14}"/>
              </a:ext>
            </a:extLst>
          </p:cNvPr>
          <p:cNvCxnSpPr>
            <a:cxnSpLocks/>
          </p:cNvCxnSpPr>
          <p:nvPr/>
        </p:nvCxnSpPr>
        <p:spPr>
          <a:xfrm>
            <a:off x="8396287" y="4723606"/>
            <a:ext cx="733425" cy="886619"/>
          </a:xfrm>
          <a:prstGeom prst="line">
            <a:avLst/>
          </a:prstGeom>
          <a:ln>
            <a:solidFill>
              <a:srgbClr val="000000">
                <a:alpha val="50196"/>
              </a:srgb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B18E7477-0D00-AD9F-E581-2236C544ACAB}"/>
              </a:ext>
            </a:extLst>
          </p:cNvPr>
          <p:cNvSpPr txBox="1"/>
          <p:nvPr/>
        </p:nvSpPr>
        <p:spPr>
          <a:xfrm>
            <a:off x="1909970" y="5651587"/>
            <a:ext cx="4840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Abb. 1: Überblick über das Gesamtsystem</a:t>
            </a:r>
          </a:p>
        </p:txBody>
      </p:sp>
    </p:spTree>
    <p:extLst>
      <p:ext uri="{BB962C8B-B14F-4D97-AF65-F5344CB8AC3E}">
        <p14:creationId xmlns:p14="http://schemas.microsoft.com/office/powerpoint/2010/main" val="3025880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63836-B08E-B08A-2DB3-82C72307C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CE7EBF-CE66-357C-8D2E-633D48415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Zielsetzung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96CB11D-672E-1270-B040-88DF600967E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anchor="ctr"/>
          <a:lstStyle/>
          <a:p>
            <a:pPr marL="537750" lvl="2" indent="-285750">
              <a:buFontTx/>
              <a:buChar char="-"/>
            </a:pPr>
            <a:r>
              <a:rPr lang="de-DE" dirty="0"/>
              <a:t>OWL-konforme Wissensgraphen aus annotieren Bilddateien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Ausschließlich Informationen aus der CSV-Datei</a:t>
            </a:r>
          </a:p>
          <a:p>
            <a:pPr marL="537750" lvl="2" indent="-285750">
              <a:buFont typeface="Wingdings" panose="05000000000000000000" pitchFamily="2" charset="2"/>
              <a:buChar char="è"/>
            </a:pPr>
            <a:r>
              <a:rPr lang="de-DE" dirty="0"/>
              <a:t>Universelle methodische Basis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Verschiedene Modellierungsansätze und Datenformate praxisnah testen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Integration mehrerer Kameras</a:t>
            </a:r>
          </a:p>
          <a:p>
            <a:pPr marL="537750" lvl="2" indent="-285750">
              <a:buFontTx/>
              <a:buChar char="-"/>
            </a:pPr>
            <a:endParaRPr lang="de-DE" dirty="0"/>
          </a:p>
          <a:p>
            <a:pPr marL="537750" lvl="2" indent="-285750">
              <a:buFontTx/>
              <a:buChar char="-"/>
            </a:pPr>
            <a:r>
              <a:rPr lang="de-DE" dirty="0"/>
              <a:t>Forschungsfragen:</a:t>
            </a:r>
          </a:p>
          <a:p>
            <a:pPr lvl="2" indent="0">
              <a:buNone/>
            </a:pPr>
            <a:r>
              <a:rPr lang="de-DE" dirty="0"/>
              <a:t>      1. Kann die Erstellung eines Wissensgraphen aus annotierten Bilddateien automatisiert werden?</a:t>
            </a:r>
          </a:p>
          <a:p>
            <a:pPr lvl="2" indent="0">
              <a:buNone/>
            </a:pPr>
            <a:r>
              <a:rPr lang="de-DE" dirty="0"/>
              <a:t>      2. Welche </a:t>
            </a:r>
            <a:r>
              <a:rPr lang="de-DE" dirty="0" err="1"/>
              <a:t>Wissensgraphmodellierung</a:t>
            </a:r>
            <a:r>
              <a:rPr lang="de-DE" dirty="0"/>
              <a:t> eignet sich am besten für den Einsatz in einem LLM-basierten KI-   </a:t>
            </a:r>
            <a:br>
              <a:rPr lang="de-DE" dirty="0"/>
            </a:br>
            <a:r>
              <a:rPr lang="de-DE" dirty="0"/>
              <a:t>          Wartungsassistenten?</a:t>
            </a:r>
          </a:p>
          <a:p>
            <a:pPr lvl="2" indent="0">
              <a:buNone/>
            </a:pPr>
            <a:r>
              <a:rPr lang="de-DE" dirty="0"/>
              <a:t>      3. Welche Modelle sind für den Einsatz mit Wissensgraphen geeignet?</a:t>
            </a:r>
          </a:p>
        </p:txBody>
      </p:sp>
    </p:spTree>
    <p:extLst>
      <p:ext uri="{BB962C8B-B14F-4D97-AF65-F5344CB8AC3E}">
        <p14:creationId xmlns:p14="http://schemas.microsoft.com/office/powerpoint/2010/main" val="2286572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B2F221-2131-216A-5A27-55D951C80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Aktueller Stand der Technik</a:t>
            </a:r>
            <a:br>
              <a:rPr lang="de-DE" dirty="0"/>
            </a:br>
            <a:r>
              <a:rPr lang="de-DE" b="0" dirty="0"/>
              <a:t>Automatisierte </a:t>
            </a:r>
            <a:r>
              <a:rPr lang="de-DE" b="0" dirty="0" err="1"/>
              <a:t>Wissensgrapherstellung</a:t>
            </a:r>
            <a:endParaRPr lang="de-DE" b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083B80-E428-91D0-EE84-3E84BB68EDE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anchor="ctr"/>
          <a:lstStyle/>
          <a:p>
            <a:pPr marL="537750" lvl="2" indent="-285750">
              <a:buFontTx/>
              <a:buChar char="-"/>
            </a:pPr>
            <a:r>
              <a:rPr lang="de-DE" dirty="0"/>
              <a:t>Viele verschiedene Ansätze zum automatischen Erstellen aus Textquellen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Automatische </a:t>
            </a:r>
            <a:r>
              <a:rPr lang="de-DE" dirty="0" err="1"/>
              <a:t>Wissensgrapherstellung</a:t>
            </a:r>
            <a:r>
              <a:rPr lang="de-DE" dirty="0"/>
              <a:t> aus annotierten Bilddateien sehr begrenzt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8 Arbeiten mit LLM + Wissensgraphen oder </a:t>
            </a:r>
            <a:r>
              <a:rPr lang="de-DE" dirty="0" err="1"/>
              <a:t>Wissensgrapherstellung</a:t>
            </a:r>
            <a:r>
              <a:rPr lang="de-DE" dirty="0"/>
              <a:t> aus Bilddaten</a:t>
            </a:r>
          </a:p>
          <a:p>
            <a:pPr marL="285750" lvl="1" indent="-285750">
              <a:buFontTx/>
              <a:buChar char="-"/>
            </a:pPr>
            <a:endParaRPr lang="de-DE" dirty="0"/>
          </a:p>
          <a:p>
            <a:pPr marL="537750" lvl="2" indent="-285750">
              <a:buFontTx/>
              <a:buChar char="-"/>
            </a:pPr>
            <a:r>
              <a:rPr lang="de-DE" dirty="0"/>
              <a:t>Eine Arbeit von Pfitzner et al. beschäftigte sich bereits mit einem ähnlichen Thema doch mit Einschränkungen </a:t>
            </a:r>
            <a:r>
              <a:rPr lang="de-DE" sz="1100" dirty="0"/>
              <a:t>[1]</a:t>
            </a:r>
          </a:p>
          <a:p>
            <a:pPr marL="537750" lvl="2" indent="-285750">
              <a:buFont typeface="Arial" panose="020B0604020202020204" pitchFamily="34" charset="0"/>
              <a:buChar char="•"/>
            </a:pPr>
            <a:r>
              <a:rPr lang="de-DE" dirty="0"/>
              <a:t>Grundrisse von Gebäude notwendig -&gt; nicht universell einsetzbare Methodik</a:t>
            </a:r>
          </a:p>
          <a:p>
            <a:pPr marL="537750" lvl="2" indent="-285750">
              <a:buFont typeface="Arial" panose="020B0604020202020204" pitchFamily="34" charset="0"/>
              <a:buChar char="•"/>
            </a:pPr>
            <a:r>
              <a:rPr lang="de-DE" dirty="0"/>
              <a:t>Der Zusammenhang mit LLMs wurde nicht untersucht</a:t>
            </a:r>
          </a:p>
          <a:p>
            <a:pPr marL="537750" lvl="2" indent="-285750">
              <a:buFont typeface="Wingdings" panose="05000000000000000000" pitchFamily="2" charset="2"/>
              <a:buChar char="è"/>
            </a:pPr>
            <a:r>
              <a:rPr lang="de-DE" dirty="0"/>
              <a:t>Forschungslücke</a:t>
            </a:r>
          </a:p>
          <a:p>
            <a:pPr marL="537750" lvl="2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537750" lvl="2" indent="-285750">
              <a:buFontTx/>
              <a:buChar char="-"/>
            </a:pPr>
            <a:r>
              <a:rPr lang="de-DE" dirty="0"/>
              <a:t>Eine weitere Arbeit von Ludwig et al. beschäftigt sich bereits mit der Interaktion zwischen OWL-Wissensgraphen und LLMs – für einen sprachgesteuerten Wartungsassistenten </a:t>
            </a:r>
            <a:r>
              <a:rPr lang="de-DE" sz="1100" dirty="0"/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3367211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C9794-EACF-1EE8-E08D-6E7C8346B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BFC078-47B3-6174-B19B-9D7EDA41D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771" y="3835706"/>
            <a:ext cx="1970091" cy="492443"/>
          </a:xfrm>
        </p:spPr>
        <p:txBody>
          <a:bodyPr/>
          <a:lstStyle/>
          <a:p>
            <a:r>
              <a:rPr lang="de-DE" dirty="0"/>
              <a:t>Methodik</a:t>
            </a:r>
          </a:p>
        </p:txBody>
      </p:sp>
    </p:spTree>
    <p:extLst>
      <p:ext uri="{BB962C8B-B14F-4D97-AF65-F5344CB8AC3E}">
        <p14:creationId xmlns:p14="http://schemas.microsoft.com/office/powerpoint/2010/main" val="1643970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91724-A9F0-1BE6-362B-E1A9AC92B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AB36C6-752A-A888-066D-DEFC76891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Methodik</a:t>
            </a:r>
            <a:br>
              <a:rPr lang="de-DE" dirty="0"/>
            </a:br>
            <a:r>
              <a:rPr lang="de-DE" b="0" dirty="0"/>
              <a:t>Anforderungen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24218D-AC63-5227-D203-A48BD39D742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anchor="ctr"/>
          <a:lstStyle/>
          <a:p>
            <a:pPr lvl="2" indent="0">
              <a:buNone/>
            </a:pPr>
            <a:r>
              <a:rPr lang="de-DE" b="1" dirty="0"/>
              <a:t>An den Wissensgraphen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OWL-Datei und Tripeltextdatei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Verwendung eindeutiger Namenkonvention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Vermeidung widersprüchlicher Relationen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Unterstützung inverser Relationen</a:t>
            </a:r>
          </a:p>
          <a:p>
            <a:pPr lvl="2" indent="0">
              <a:buNone/>
            </a:pPr>
            <a:endParaRPr lang="de-DE" dirty="0"/>
          </a:p>
          <a:p>
            <a:pPr lvl="2" indent="0">
              <a:buNone/>
            </a:pPr>
            <a:r>
              <a:rPr lang="de-DE" b="1" dirty="0"/>
              <a:t>An den Prozess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Prozess in Python entwickeln (da owlready2-Framework und die anderen Teilsysteme auch in Python)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Soll in Echtzeitsystemen nutzbar sein -&gt; schnelle Ausführung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Soll mittels Konfigurationsdatei modular und anpassbar sein</a:t>
            </a:r>
          </a:p>
          <a:p>
            <a:pPr marL="285750" indent="-285750">
              <a:buFontTx/>
              <a:buChar char="-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42228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6464B-5D07-A8F2-031F-115554D9F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FDE16C-E2B2-B581-20BC-33CD7634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Methodik</a:t>
            </a:r>
            <a:br>
              <a:rPr lang="de-DE" dirty="0"/>
            </a:br>
            <a:r>
              <a:rPr lang="de-DE" b="0" dirty="0" err="1"/>
              <a:t>Wissensgraphmodellierungen</a:t>
            </a:r>
            <a:endParaRPr lang="de-DE" b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AE2AD0-1E51-4488-7FA2-C56C92A0165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3756" y="1484313"/>
            <a:ext cx="10580688" cy="4344987"/>
          </a:xfrm>
        </p:spPr>
        <p:txBody>
          <a:bodyPr numCol="1" anchor="ctr"/>
          <a:lstStyle/>
          <a:p>
            <a:pPr marL="285750" indent="-285750">
              <a:buFontTx/>
              <a:buChar char="-"/>
            </a:pPr>
            <a:r>
              <a:rPr lang="de-DE" dirty="0"/>
              <a:t>Implizite Modellierung:</a:t>
            </a:r>
            <a:r>
              <a:rPr lang="de-DE" b="0" dirty="0"/>
              <a:t> Relationen nur zum nächsten Bauteil in jede Richtung</a:t>
            </a:r>
          </a:p>
          <a:p>
            <a:pPr marL="285750" indent="-285750">
              <a:buFontTx/>
              <a:buChar char="-"/>
            </a:pPr>
            <a:r>
              <a:rPr lang="de-DE" b="0" dirty="0"/>
              <a:t>Explizite Modellierung</a:t>
            </a:r>
          </a:p>
          <a:p>
            <a:pPr marL="285750" indent="-285750">
              <a:buFontTx/>
              <a:buChar char="-"/>
            </a:pPr>
            <a:r>
              <a:rPr lang="de-DE" b="0" dirty="0"/>
              <a:t>Mit / ohne Koordinaten</a:t>
            </a:r>
          </a:p>
          <a:p>
            <a:pPr marL="285750" indent="-285750">
              <a:buFontTx/>
              <a:buChar char="-"/>
            </a:pPr>
            <a:r>
              <a:rPr lang="de-DE" b="0" dirty="0"/>
              <a:t>Single-Cam-Modus</a:t>
            </a:r>
          </a:p>
          <a:p>
            <a:pPr marL="285750" indent="-285750">
              <a:buFontTx/>
              <a:buChar char="-"/>
            </a:pPr>
            <a:r>
              <a:rPr lang="de-DE" b="0" dirty="0"/>
              <a:t>Multi-Cam-Modus</a:t>
            </a:r>
          </a:p>
          <a:p>
            <a:pPr marL="285750" indent="-285750">
              <a:buFontTx/>
              <a:buChar char="-"/>
            </a:pPr>
            <a:r>
              <a:rPr lang="de-DE" b="0" dirty="0"/>
              <a:t>Summary-Graph</a:t>
            </a:r>
          </a:p>
        </p:txBody>
      </p:sp>
      <p:pic>
        <p:nvPicPr>
          <p:cNvPr id="5" name="Grafik 4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8D0CA2E2-3DB2-4E7D-C1BD-79BC5096B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80" r="8219" b="36340"/>
          <a:stretch>
            <a:fillRect/>
          </a:stretch>
        </p:blipFill>
        <p:spPr>
          <a:xfrm>
            <a:off x="9177662" y="1854016"/>
            <a:ext cx="2401555" cy="3149968"/>
          </a:xfrm>
          <a:prstGeom prst="rect">
            <a:avLst/>
          </a:prstGeom>
        </p:spPr>
      </p:pic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0536510F-7554-F656-DB6D-14A59813927C}"/>
              </a:ext>
            </a:extLst>
          </p:cNvPr>
          <p:cNvCxnSpPr>
            <a:cxnSpLocks/>
          </p:cNvCxnSpPr>
          <p:nvPr/>
        </p:nvCxnSpPr>
        <p:spPr>
          <a:xfrm>
            <a:off x="10105459" y="2421653"/>
            <a:ext cx="0" cy="793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030602E-AFBF-AAFB-3742-F8B7B55468AF}"/>
              </a:ext>
            </a:extLst>
          </p:cNvPr>
          <p:cNvCxnSpPr>
            <a:cxnSpLocks/>
          </p:cNvCxnSpPr>
          <p:nvPr/>
        </p:nvCxnSpPr>
        <p:spPr>
          <a:xfrm flipV="1">
            <a:off x="10340340" y="2545080"/>
            <a:ext cx="0" cy="73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3B7F709A-E648-5413-734D-C2CB415A9C0E}"/>
              </a:ext>
            </a:extLst>
          </p:cNvPr>
          <p:cNvCxnSpPr>
            <a:cxnSpLocks/>
          </p:cNvCxnSpPr>
          <p:nvPr/>
        </p:nvCxnSpPr>
        <p:spPr>
          <a:xfrm>
            <a:off x="10122374" y="3589020"/>
            <a:ext cx="0" cy="792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BBF22592-3107-1CF9-9E31-B6AD38914B4F}"/>
              </a:ext>
            </a:extLst>
          </p:cNvPr>
          <p:cNvCxnSpPr>
            <a:cxnSpLocks/>
          </p:cNvCxnSpPr>
          <p:nvPr/>
        </p:nvCxnSpPr>
        <p:spPr>
          <a:xfrm flipV="1">
            <a:off x="10270588" y="3764280"/>
            <a:ext cx="0" cy="73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BA0C6DE5-8B38-7260-DD40-F1A79FF09841}"/>
              </a:ext>
            </a:extLst>
          </p:cNvPr>
          <p:cNvSpPr txBox="1"/>
          <p:nvPr/>
        </p:nvSpPr>
        <p:spPr>
          <a:xfrm>
            <a:off x="9211124" y="4938524"/>
            <a:ext cx="4840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Abb. 2: Implizite Modellierung</a:t>
            </a:r>
          </a:p>
        </p:txBody>
      </p:sp>
    </p:spTree>
    <p:extLst>
      <p:ext uri="{BB962C8B-B14F-4D97-AF65-F5344CB8AC3E}">
        <p14:creationId xmlns:p14="http://schemas.microsoft.com/office/powerpoint/2010/main" val="3037149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46AC7-5B9A-AE6E-9BC2-BBBF26AC3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C0F3D3-38FF-ADE8-9953-0D5995F8F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Methodik</a:t>
            </a:r>
            <a:br>
              <a:rPr lang="de-DE" dirty="0"/>
            </a:br>
            <a:r>
              <a:rPr lang="de-DE" b="0" dirty="0" err="1"/>
              <a:t>Wissensgraphmodellierungen</a:t>
            </a:r>
            <a:endParaRPr lang="de-DE" b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A74029-34CA-AEB2-5A41-27824E1335F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3756" y="1484313"/>
            <a:ext cx="10580688" cy="4344987"/>
          </a:xfrm>
        </p:spPr>
        <p:txBody>
          <a:bodyPr numCol="1" anchor="ctr"/>
          <a:lstStyle/>
          <a:p>
            <a:pPr marL="285750" indent="-285750">
              <a:buFontTx/>
              <a:buChar char="-"/>
            </a:pPr>
            <a:r>
              <a:rPr lang="de-DE" b="0" dirty="0"/>
              <a:t>Implizite Modellierung</a:t>
            </a:r>
          </a:p>
          <a:p>
            <a:pPr marL="285750" indent="-285750">
              <a:buFontTx/>
              <a:buChar char="-"/>
            </a:pPr>
            <a:r>
              <a:rPr lang="de-DE" dirty="0"/>
              <a:t>Explizite Modellierung:</a:t>
            </a:r>
            <a:r>
              <a:rPr lang="de-DE" b="0" dirty="0"/>
              <a:t> Relationen zu allen Bauteilen in alle Richtungen</a:t>
            </a:r>
          </a:p>
          <a:p>
            <a:pPr marL="285750" indent="-285750">
              <a:buFontTx/>
              <a:buChar char="-"/>
            </a:pPr>
            <a:r>
              <a:rPr lang="de-DE" b="0" dirty="0"/>
              <a:t>Mit / ohne Koordinaten</a:t>
            </a:r>
          </a:p>
          <a:p>
            <a:pPr marL="285750" indent="-285750">
              <a:buFontTx/>
              <a:buChar char="-"/>
            </a:pPr>
            <a:r>
              <a:rPr lang="de-DE" b="0" dirty="0"/>
              <a:t>Single-Cam-Modus</a:t>
            </a:r>
          </a:p>
          <a:p>
            <a:pPr marL="285750" indent="-285750">
              <a:buFontTx/>
              <a:buChar char="-"/>
            </a:pPr>
            <a:r>
              <a:rPr lang="de-DE" b="0" dirty="0"/>
              <a:t>Multi-Cam-Modus</a:t>
            </a:r>
          </a:p>
          <a:p>
            <a:pPr marL="285750" indent="-285750">
              <a:buFontTx/>
              <a:buChar char="-"/>
            </a:pPr>
            <a:r>
              <a:rPr lang="de-DE" b="0" dirty="0"/>
              <a:t>Summary-Graph</a:t>
            </a:r>
            <a:endParaRPr lang="de-DE" dirty="0"/>
          </a:p>
        </p:txBody>
      </p:sp>
      <p:pic>
        <p:nvPicPr>
          <p:cNvPr id="7" name="Grafik 6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D75FD69D-F616-B227-4585-58278CAE63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63" b="36340"/>
          <a:stretch>
            <a:fillRect/>
          </a:stretch>
        </p:blipFill>
        <p:spPr>
          <a:xfrm>
            <a:off x="8209503" y="2011840"/>
            <a:ext cx="3667649" cy="2834319"/>
          </a:xfrm>
          <a:prstGeom prst="rect">
            <a:avLst/>
          </a:prstGeom>
        </p:spPr>
      </p:pic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7958D689-952D-7625-1D5C-4B6C9DAF1DE9}"/>
              </a:ext>
            </a:extLst>
          </p:cNvPr>
          <p:cNvCxnSpPr>
            <a:cxnSpLocks/>
          </p:cNvCxnSpPr>
          <p:nvPr/>
        </p:nvCxnSpPr>
        <p:spPr>
          <a:xfrm>
            <a:off x="9954733" y="2574053"/>
            <a:ext cx="0" cy="701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A2AF4490-AAC1-68B9-EF82-D2DCD3AE88AF}"/>
              </a:ext>
            </a:extLst>
          </p:cNvPr>
          <p:cNvCxnSpPr>
            <a:cxnSpLocks/>
          </p:cNvCxnSpPr>
          <p:nvPr/>
        </p:nvCxnSpPr>
        <p:spPr>
          <a:xfrm flipV="1">
            <a:off x="10085862" y="2672862"/>
            <a:ext cx="0" cy="632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444ABCCC-A9E8-D5AE-BAE9-A571F5496B3B}"/>
              </a:ext>
            </a:extLst>
          </p:cNvPr>
          <p:cNvCxnSpPr>
            <a:cxnSpLocks/>
          </p:cNvCxnSpPr>
          <p:nvPr/>
        </p:nvCxnSpPr>
        <p:spPr>
          <a:xfrm>
            <a:off x="9931284" y="3582238"/>
            <a:ext cx="0" cy="730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0619E5F9-9C79-C146-D810-EE37B4ACF29D}"/>
              </a:ext>
            </a:extLst>
          </p:cNvPr>
          <p:cNvCxnSpPr>
            <a:cxnSpLocks/>
          </p:cNvCxnSpPr>
          <p:nvPr/>
        </p:nvCxnSpPr>
        <p:spPr>
          <a:xfrm flipV="1">
            <a:off x="10085862" y="3735810"/>
            <a:ext cx="0" cy="577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Verbinder: gewinkelt 24">
            <a:extLst>
              <a:ext uri="{FF2B5EF4-FFF2-40B4-BE49-F238E27FC236}">
                <a16:creationId xmlns:a16="http://schemas.microsoft.com/office/drawing/2014/main" id="{05C15097-A753-35F7-31B0-39C8D2DA6E5A}"/>
              </a:ext>
            </a:extLst>
          </p:cNvPr>
          <p:cNvCxnSpPr>
            <a:cxnSpLocks/>
          </p:cNvCxnSpPr>
          <p:nvPr/>
        </p:nvCxnSpPr>
        <p:spPr>
          <a:xfrm rot="16200000" flipH="1">
            <a:off x="8861890" y="3397099"/>
            <a:ext cx="2044840" cy="93948"/>
          </a:xfrm>
          <a:prstGeom prst="bentConnector3">
            <a:avLst>
              <a:gd name="adj1" fmla="val 4950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2D140D99-E57E-E554-6559-D025E069F4F4}"/>
              </a:ext>
            </a:extLst>
          </p:cNvPr>
          <p:cNvCxnSpPr/>
          <p:nvPr/>
        </p:nvCxnSpPr>
        <p:spPr>
          <a:xfrm flipH="1">
            <a:off x="9033468" y="2421653"/>
            <a:ext cx="8038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8B4D3244-4208-E8A9-3337-0AE027CB016A}"/>
              </a:ext>
            </a:extLst>
          </p:cNvPr>
          <p:cNvCxnSpPr>
            <a:cxnSpLocks/>
          </p:cNvCxnSpPr>
          <p:nvPr/>
        </p:nvCxnSpPr>
        <p:spPr>
          <a:xfrm flipV="1">
            <a:off x="9033468" y="2421653"/>
            <a:ext cx="0" cy="21302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B9C24565-71CB-61D9-8660-57AF066CE2A3}"/>
              </a:ext>
            </a:extLst>
          </p:cNvPr>
          <p:cNvCxnSpPr/>
          <p:nvPr/>
        </p:nvCxnSpPr>
        <p:spPr>
          <a:xfrm>
            <a:off x="9033468" y="4551903"/>
            <a:ext cx="8038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272E85F7-437E-D514-9067-A6932A32E6B1}"/>
              </a:ext>
            </a:extLst>
          </p:cNvPr>
          <p:cNvCxnSpPr>
            <a:cxnSpLocks/>
          </p:cNvCxnSpPr>
          <p:nvPr/>
        </p:nvCxnSpPr>
        <p:spPr>
          <a:xfrm>
            <a:off x="10085862" y="4652387"/>
            <a:ext cx="9448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DDEC9394-48D0-64C2-82D4-89D21ED6D635}"/>
              </a:ext>
            </a:extLst>
          </p:cNvPr>
          <p:cNvCxnSpPr>
            <a:cxnSpLocks/>
          </p:cNvCxnSpPr>
          <p:nvPr/>
        </p:nvCxnSpPr>
        <p:spPr>
          <a:xfrm>
            <a:off x="11030749" y="2301073"/>
            <a:ext cx="0" cy="2351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04CAB6AD-E15E-31D9-C333-C7DCD26DD936}"/>
              </a:ext>
            </a:extLst>
          </p:cNvPr>
          <p:cNvCxnSpPr/>
          <p:nvPr/>
        </p:nvCxnSpPr>
        <p:spPr>
          <a:xfrm flipH="1">
            <a:off x="10189029" y="2301073"/>
            <a:ext cx="8417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8F1C86D2-D31D-E986-C8FA-9CB9464AB7DB}"/>
              </a:ext>
            </a:extLst>
          </p:cNvPr>
          <p:cNvSpPr txBox="1"/>
          <p:nvPr/>
        </p:nvSpPr>
        <p:spPr>
          <a:xfrm>
            <a:off x="8209503" y="4744671"/>
            <a:ext cx="6097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Abb. 3: Explizite Modellierung</a:t>
            </a:r>
          </a:p>
        </p:txBody>
      </p:sp>
    </p:spTree>
    <p:extLst>
      <p:ext uri="{BB962C8B-B14F-4D97-AF65-F5344CB8AC3E}">
        <p14:creationId xmlns:p14="http://schemas.microsoft.com/office/powerpoint/2010/main" val="1796070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4A710-9023-6DC8-8639-578E6ABA3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67AC90-F5BC-8B91-B313-07163BA83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Methodik</a:t>
            </a:r>
            <a:br>
              <a:rPr lang="de-DE" dirty="0"/>
            </a:br>
            <a:r>
              <a:rPr lang="de-DE" b="0" dirty="0" err="1"/>
              <a:t>Wissensgraphmodellierungen</a:t>
            </a:r>
            <a:endParaRPr lang="de-DE" b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1911B5-70C7-9032-BC52-1FAE68F3544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3756" y="1484313"/>
            <a:ext cx="10580688" cy="4344987"/>
          </a:xfrm>
        </p:spPr>
        <p:txBody>
          <a:bodyPr numCol="1" anchor="ctr"/>
          <a:lstStyle/>
          <a:p>
            <a:pPr marL="285750" indent="-285750">
              <a:buFontTx/>
              <a:buChar char="-"/>
            </a:pPr>
            <a:r>
              <a:rPr lang="de-DE" b="0" dirty="0"/>
              <a:t>Implizite Modellierung</a:t>
            </a:r>
          </a:p>
          <a:p>
            <a:pPr marL="285750" indent="-285750">
              <a:buFontTx/>
              <a:buChar char="-"/>
            </a:pPr>
            <a:r>
              <a:rPr lang="de-DE" b="0" dirty="0"/>
              <a:t>Explizite Modellierung</a:t>
            </a:r>
          </a:p>
          <a:p>
            <a:pPr marL="285750" indent="-285750">
              <a:buFontTx/>
              <a:buChar char="-"/>
            </a:pPr>
            <a:r>
              <a:rPr lang="de-DE" dirty="0"/>
              <a:t>Mit / ohne Koordinaten:</a:t>
            </a:r>
            <a:r>
              <a:rPr lang="de-DE" b="0" dirty="0"/>
              <a:t> Bauteile erhalten / erhalten keine Koordinaten als Attribute  </a:t>
            </a:r>
          </a:p>
          <a:p>
            <a:pPr marL="285750" indent="-285750">
              <a:buFontTx/>
              <a:buChar char="-"/>
            </a:pPr>
            <a:r>
              <a:rPr lang="de-DE" b="0" dirty="0"/>
              <a:t>Single-Cam-Modus</a:t>
            </a:r>
          </a:p>
          <a:p>
            <a:pPr marL="285750" indent="-285750">
              <a:buFontTx/>
              <a:buChar char="-"/>
            </a:pPr>
            <a:r>
              <a:rPr lang="de-DE" b="0" dirty="0"/>
              <a:t>Multi-Cam-Modus</a:t>
            </a:r>
          </a:p>
          <a:p>
            <a:pPr marL="285750" indent="-285750">
              <a:buFontTx/>
              <a:buChar char="-"/>
            </a:pPr>
            <a:r>
              <a:rPr lang="de-DE" b="0" dirty="0"/>
              <a:t>Summary-Graph</a:t>
            </a:r>
          </a:p>
        </p:txBody>
      </p:sp>
      <p:pic>
        <p:nvPicPr>
          <p:cNvPr id="5" name="Grafik 4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E40FAB50-2927-73DA-ADD6-89E5F6C5B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05" b="63446"/>
          <a:stretch>
            <a:fillRect/>
          </a:stretch>
        </p:blipFill>
        <p:spPr>
          <a:xfrm>
            <a:off x="8601878" y="1281496"/>
            <a:ext cx="3043316" cy="1642574"/>
          </a:xfrm>
          <a:prstGeom prst="rect">
            <a:avLst/>
          </a:prstGeom>
        </p:spPr>
      </p:pic>
      <p:pic>
        <p:nvPicPr>
          <p:cNvPr id="7" name="Grafik 6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8D0E4D14-31D4-44C6-74C5-FCFA1F30D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22" t="55113" r="8219" b="22909"/>
          <a:stretch>
            <a:fillRect/>
          </a:stretch>
        </p:blipFill>
        <p:spPr>
          <a:xfrm>
            <a:off x="9345102" y="4132715"/>
            <a:ext cx="1556868" cy="1009860"/>
          </a:xfrm>
          <a:prstGeom prst="rect">
            <a:avLst/>
          </a:prstGeom>
        </p:spPr>
      </p:pic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91581EDE-8809-9A91-338D-F2D9D5AD3D6F}"/>
              </a:ext>
            </a:extLst>
          </p:cNvPr>
          <p:cNvCxnSpPr/>
          <p:nvPr/>
        </p:nvCxnSpPr>
        <p:spPr>
          <a:xfrm flipH="1" flipV="1">
            <a:off x="9174145" y="2361363"/>
            <a:ext cx="472273" cy="100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B70287BF-9340-BC27-A180-4573A3430219}"/>
              </a:ext>
            </a:extLst>
          </p:cNvPr>
          <p:cNvCxnSpPr>
            <a:cxnSpLocks/>
          </p:cNvCxnSpPr>
          <p:nvPr/>
        </p:nvCxnSpPr>
        <p:spPr>
          <a:xfrm flipH="1" flipV="1">
            <a:off x="9646418" y="1926475"/>
            <a:ext cx="82062" cy="352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72FF2A6B-69C7-2227-C0BB-DB6702A8864B}"/>
              </a:ext>
            </a:extLst>
          </p:cNvPr>
          <p:cNvCxnSpPr>
            <a:cxnSpLocks/>
          </p:cNvCxnSpPr>
          <p:nvPr/>
        </p:nvCxnSpPr>
        <p:spPr>
          <a:xfrm flipV="1">
            <a:off x="9887578" y="1926475"/>
            <a:ext cx="572756" cy="380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D7C74F2E-5686-D470-B7F7-3B4C2F10CE3F}"/>
              </a:ext>
            </a:extLst>
          </p:cNvPr>
          <p:cNvCxnSpPr>
            <a:cxnSpLocks/>
          </p:cNvCxnSpPr>
          <p:nvPr/>
        </p:nvCxnSpPr>
        <p:spPr>
          <a:xfrm>
            <a:off x="9967965" y="2509412"/>
            <a:ext cx="1024932" cy="143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0E8AB8D3-025B-F5FA-16DA-C054A01DE0A5}"/>
              </a:ext>
            </a:extLst>
          </p:cNvPr>
          <p:cNvSpPr txBox="1"/>
          <p:nvPr/>
        </p:nvSpPr>
        <p:spPr>
          <a:xfrm>
            <a:off x="8540055" y="2733116"/>
            <a:ext cx="6097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Abb. 4: Modellierung mit Koordinaten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D0CC86A-048B-E2B9-7243-0988F83638B3}"/>
              </a:ext>
            </a:extLst>
          </p:cNvPr>
          <p:cNvSpPr txBox="1"/>
          <p:nvPr/>
        </p:nvSpPr>
        <p:spPr>
          <a:xfrm>
            <a:off x="8596366" y="4865576"/>
            <a:ext cx="6097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Abb. 5: Modellierung ohne Koordinaten</a:t>
            </a:r>
          </a:p>
        </p:txBody>
      </p:sp>
    </p:spTree>
    <p:extLst>
      <p:ext uri="{BB962C8B-B14F-4D97-AF65-F5344CB8AC3E}">
        <p14:creationId xmlns:p14="http://schemas.microsoft.com/office/powerpoint/2010/main" val="2470756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480EB-D335-B0F5-AD32-C5560DCF0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47D677-2F7D-5E0B-6BD0-03443E097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Methodik</a:t>
            </a:r>
            <a:br>
              <a:rPr lang="de-DE" dirty="0"/>
            </a:br>
            <a:r>
              <a:rPr lang="de-DE" b="0" dirty="0" err="1"/>
              <a:t>Wissensgraphmodellierungen</a:t>
            </a:r>
            <a:endParaRPr lang="de-DE" b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630855-3716-A46A-0189-95E867C3C62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3756" y="1484313"/>
            <a:ext cx="10580688" cy="4344987"/>
          </a:xfrm>
        </p:spPr>
        <p:txBody>
          <a:bodyPr numCol="1" anchor="ctr"/>
          <a:lstStyle/>
          <a:p>
            <a:pPr marL="285750" indent="-285750">
              <a:buFontTx/>
              <a:buChar char="-"/>
            </a:pPr>
            <a:r>
              <a:rPr lang="de-DE" b="0" dirty="0"/>
              <a:t>Implizite Modellierung</a:t>
            </a:r>
          </a:p>
          <a:p>
            <a:pPr marL="285750" indent="-285750">
              <a:buFontTx/>
              <a:buChar char="-"/>
            </a:pPr>
            <a:r>
              <a:rPr lang="de-DE" b="0" dirty="0"/>
              <a:t>Explizite Modellierung</a:t>
            </a:r>
          </a:p>
          <a:p>
            <a:pPr marL="285750" indent="-285750">
              <a:buFontTx/>
              <a:buChar char="-"/>
            </a:pPr>
            <a:r>
              <a:rPr lang="de-DE" b="0" dirty="0"/>
              <a:t>Mit / ohne Koordinaten</a:t>
            </a:r>
          </a:p>
          <a:p>
            <a:pPr marL="285750" indent="-285750">
              <a:buFontTx/>
              <a:buChar char="-"/>
            </a:pPr>
            <a:r>
              <a:rPr lang="de-DE" dirty="0"/>
              <a:t>Single-Cam-Modus:</a:t>
            </a:r>
            <a:r>
              <a:rPr lang="de-DE" b="0" dirty="0"/>
              <a:t> Wissensgraph wird anhand Informationen einer Kamera generiert</a:t>
            </a:r>
          </a:p>
          <a:p>
            <a:pPr marL="285750" indent="-285750">
              <a:buFontTx/>
              <a:buChar char="-"/>
            </a:pPr>
            <a:r>
              <a:rPr lang="de-DE" b="0" dirty="0"/>
              <a:t>Multi-Cam-Modus</a:t>
            </a:r>
          </a:p>
          <a:p>
            <a:pPr marL="285750" indent="-285750">
              <a:buFontTx/>
              <a:buChar char="-"/>
            </a:pPr>
            <a:r>
              <a:rPr lang="de-DE" b="0" dirty="0"/>
              <a:t>Summary-Graph</a:t>
            </a:r>
          </a:p>
        </p:txBody>
      </p:sp>
      <p:pic>
        <p:nvPicPr>
          <p:cNvPr id="5" name="Grafik 4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5ED90411-AB37-A4A9-D525-054B6A1A1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31" t="33745" r="11824" b="37867"/>
          <a:stretch>
            <a:fillRect/>
          </a:stretch>
        </p:blipFill>
        <p:spPr>
          <a:xfrm>
            <a:off x="9599524" y="2680241"/>
            <a:ext cx="2592476" cy="1497518"/>
          </a:xfrm>
          <a:prstGeom prst="rect">
            <a:avLst/>
          </a:prstGeom>
        </p:spPr>
      </p:pic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68EAC261-8B54-BBE3-7AEC-5FEE67782EB5}"/>
              </a:ext>
            </a:extLst>
          </p:cNvPr>
          <p:cNvCxnSpPr>
            <a:cxnSpLocks/>
          </p:cNvCxnSpPr>
          <p:nvPr/>
        </p:nvCxnSpPr>
        <p:spPr>
          <a:xfrm>
            <a:off x="10078497" y="3155182"/>
            <a:ext cx="13459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41A17FEF-4533-7D6F-73BC-B4B3E237B2F6}"/>
              </a:ext>
            </a:extLst>
          </p:cNvPr>
          <p:cNvCxnSpPr>
            <a:cxnSpLocks/>
          </p:cNvCxnSpPr>
          <p:nvPr/>
        </p:nvCxnSpPr>
        <p:spPr>
          <a:xfrm flipH="1">
            <a:off x="10319657" y="3307582"/>
            <a:ext cx="11357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BC4024DF-2965-7B1C-FC64-E10DD7D5A918}"/>
              </a:ext>
            </a:extLst>
          </p:cNvPr>
          <p:cNvSpPr txBox="1"/>
          <p:nvPr/>
        </p:nvSpPr>
        <p:spPr>
          <a:xfrm>
            <a:off x="9599524" y="3959597"/>
            <a:ext cx="6097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Abb. 6: Single-Cam-Modus</a:t>
            </a:r>
          </a:p>
        </p:txBody>
      </p:sp>
    </p:spTree>
    <p:extLst>
      <p:ext uri="{BB962C8B-B14F-4D97-AF65-F5344CB8AC3E}">
        <p14:creationId xmlns:p14="http://schemas.microsoft.com/office/powerpoint/2010/main" val="1212198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7DEBC-FD20-6AC7-69E3-DF30FDA71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52E414-1A26-E120-1AA9-1A66D7617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Methodik</a:t>
            </a:r>
            <a:br>
              <a:rPr lang="de-DE" dirty="0"/>
            </a:br>
            <a:r>
              <a:rPr lang="de-DE" b="0" dirty="0" err="1"/>
              <a:t>Wissensgraphmodellierungen</a:t>
            </a:r>
            <a:endParaRPr lang="de-DE" b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FDC904-C222-8ABA-9F2A-B95B75E6419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3756" y="1484313"/>
            <a:ext cx="10580688" cy="4344987"/>
          </a:xfrm>
        </p:spPr>
        <p:txBody>
          <a:bodyPr numCol="1" anchor="ctr"/>
          <a:lstStyle/>
          <a:p>
            <a:pPr marL="285750" indent="-285750">
              <a:buFontTx/>
              <a:buChar char="-"/>
            </a:pPr>
            <a:r>
              <a:rPr lang="de-DE" b="0" dirty="0"/>
              <a:t>Implizite Modellierung</a:t>
            </a:r>
          </a:p>
          <a:p>
            <a:pPr marL="285750" indent="-285750">
              <a:buFontTx/>
              <a:buChar char="-"/>
            </a:pPr>
            <a:r>
              <a:rPr lang="de-DE" b="0" dirty="0"/>
              <a:t>Explizite Modellierung</a:t>
            </a:r>
          </a:p>
          <a:p>
            <a:pPr marL="285750" indent="-285750">
              <a:buFontTx/>
              <a:buChar char="-"/>
            </a:pPr>
            <a:r>
              <a:rPr lang="de-DE" b="0" dirty="0"/>
              <a:t>Mit / ohne Koordinaten</a:t>
            </a:r>
          </a:p>
          <a:p>
            <a:pPr marL="285750" indent="-285750">
              <a:buFontTx/>
              <a:buChar char="-"/>
            </a:pPr>
            <a:r>
              <a:rPr lang="de-DE" b="0" dirty="0"/>
              <a:t>Single-Cam-Modus</a:t>
            </a:r>
          </a:p>
          <a:p>
            <a:pPr marL="285750" indent="-285750">
              <a:buFontTx/>
              <a:buChar char="-"/>
            </a:pPr>
            <a:r>
              <a:rPr lang="de-DE" dirty="0"/>
              <a:t>Multi-Cam-Modus:</a:t>
            </a:r>
            <a:r>
              <a:rPr lang="de-DE" b="0" dirty="0"/>
              <a:t> Wissensgraph wird mittels Informationen mehrerer Kameras generiert</a:t>
            </a:r>
          </a:p>
          <a:p>
            <a:pPr marL="285750" indent="-285750">
              <a:buFontTx/>
              <a:buChar char="-"/>
            </a:pPr>
            <a:r>
              <a:rPr lang="de-DE" b="0" dirty="0"/>
              <a:t>Summary-Graph</a:t>
            </a:r>
          </a:p>
        </p:txBody>
      </p:sp>
      <p:pic>
        <p:nvPicPr>
          <p:cNvPr id="5" name="Grafik 4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4A2C2A6B-1C71-33AF-0622-92629CC854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61" b="51591"/>
          <a:stretch>
            <a:fillRect/>
          </a:stretch>
        </p:blipFill>
        <p:spPr>
          <a:xfrm>
            <a:off x="9213278" y="1470718"/>
            <a:ext cx="2764358" cy="1958282"/>
          </a:xfrm>
          <a:prstGeom prst="rect">
            <a:avLst/>
          </a:prstGeom>
        </p:spPr>
      </p:pic>
      <p:pic>
        <p:nvPicPr>
          <p:cNvPr id="7" name="Grafik 6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AE6EE208-6892-E978-D844-5D92088479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61" t="54978" b="884"/>
          <a:stretch>
            <a:fillRect/>
          </a:stretch>
        </p:blipFill>
        <p:spPr>
          <a:xfrm>
            <a:off x="9213278" y="4325583"/>
            <a:ext cx="2764358" cy="1785490"/>
          </a:xfrm>
          <a:prstGeom prst="rect">
            <a:avLst/>
          </a:prstGeom>
        </p:spPr>
      </p:pic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BB583CD8-45F7-E4EB-2194-60EBA167824A}"/>
              </a:ext>
            </a:extLst>
          </p:cNvPr>
          <p:cNvCxnSpPr>
            <a:cxnSpLocks/>
          </p:cNvCxnSpPr>
          <p:nvPr/>
        </p:nvCxnSpPr>
        <p:spPr>
          <a:xfrm>
            <a:off x="10068448" y="2713054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C885E8DB-76D0-CB01-C8BD-8A3A45476023}"/>
              </a:ext>
            </a:extLst>
          </p:cNvPr>
          <p:cNvCxnSpPr>
            <a:cxnSpLocks/>
          </p:cNvCxnSpPr>
          <p:nvPr/>
        </p:nvCxnSpPr>
        <p:spPr>
          <a:xfrm flipH="1">
            <a:off x="10148835" y="2865454"/>
            <a:ext cx="9445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2B542192-44B7-F1B0-BCB5-F643D29F5687}"/>
              </a:ext>
            </a:extLst>
          </p:cNvPr>
          <p:cNvCxnSpPr>
            <a:cxnSpLocks/>
          </p:cNvCxnSpPr>
          <p:nvPr/>
        </p:nvCxnSpPr>
        <p:spPr>
          <a:xfrm flipH="1">
            <a:off x="10068448" y="1941006"/>
            <a:ext cx="441596" cy="691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85A4C9EF-D16E-6620-4832-DCE3DD33ACE0}"/>
              </a:ext>
            </a:extLst>
          </p:cNvPr>
          <p:cNvCxnSpPr>
            <a:cxnSpLocks/>
          </p:cNvCxnSpPr>
          <p:nvPr/>
        </p:nvCxnSpPr>
        <p:spPr>
          <a:xfrm>
            <a:off x="10630624" y="1902575"/>
            <a:ext cx="462756" cy="742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23FBCC29-6DAF-973E-CE5D-93305BBB7516}"/>
              </a:ext>
            </a:extLst>
          </p:cNvPr>
          <p:cNvCxnSpPr>
            <a:cxnSpLocks/>
          </p:cNvCxnSpPr>
          <p:nvPr/>
        </p:nvCxnSpPr>
        <p:spPr>
          <a:xfrm>
            <a:off x="10077964" y="5513659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6A2A61B5-2D27-7C97-5CCE-B636098D91F3}"/>
              </a:ext>
            </a:extLst>
          </p:cNvPr>
          <p:cNvCxnSpPr>
            <a:cxnSpLocks/>
          </p:cNvCxnSpPr>
          <p:nvPr/>
        </p:nvCxnSpPr>
        <p:spPr>
          <a:xfrm flipH="1">
            <a:off x="10158351" y="5666059"/>
            <a:ext cx="9445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2228A001-47F3-6AFE-AAD2-05C2E13F718E}"/>
              </a:ext>
            </a:extLst>
          </p:cNvPr>
          <p:cNvCxnSpPr>
            <a:cxnSpLocks/>
          </p:cNvCxnSpPr>
          <p:nvPr/>
        </p:nvCxnSpPr>
        <p:spPr>
          <a:xfrm flipH="1">
            <a:off x="10077964" y="4691787"/>
            <a:ext cx="432080" cy="741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444572FA-6ABF-A6D0-D156-4A12BEBEC166}"/>
              </a:ext>
            </a:extLst>
          </p:cNvPr>
          <p:cNvCxnSpPr>
            <a:cxnSpLocks/>
          </p:cNvCxnSpPr>
          <p:nvPr/>
        </p:nvCxnSpPr>
        <p:spPr>
          <a:xfrm>
            <a:off x="10640140" y="4703180"/>
            <a:ext cx="462756" cy="742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FE49A102-9AEE-8461-340D-9726F9434190}"/>
              </a:ext>
            </a:extLst>
          </p:cNvPr>
          <p:cNvSpPr txBox="1"/>
          <p:nvPr/>
        </p:nvSpPr>
        <p:spPr>
          <a:xfrm>
            <a:off x="9213278" y="6075548"/>
            <a:ext cx="6097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Abb. 7: Multi-Cam-Modus</a:t>
            </a:r>
          </a:p>
        </p:txBody>
      </p:sp>
    </p:spTree>
    <p:extLst>
      <p:ext uri="{BB962C8B-B14F-4D97-AF65-F5344CB8AC3E}">
        <p14:creationId xmlns:p14="http://schemas.microsoft.com/office/powerpoint/2010/main" val="1250170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9F75A-3F81-1005-C03D-A47417C57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90CF19-B8CE-9071-5BDC-67F50C17B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Methodik</a:t>
            </a:r>
            <a:br>
              <a:rPr lang="de-DE" dirty="0"/>
            </a:br>
            <a:r>
              <a:rPr lang="de-DE" b="0" dirty="0" err="1"/>
              <a:t>Wissensgraphmodellierungen</a:t>
            </a:r>
            <a:endParaRPr lang="de-DE" b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5A412B-3A62-98AC-4CD3-494AF8C105F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3756" y="1484313"/>
            <a:ext cx="10580688" cy="4344987"/>
          </a:xfrm>
        </p:spPr>
        <p:txBody>
          <a:bodyPr numCol="1" anchor="ctr"/>
          <a:lstStyle/>
          <a:p>
            <a:pPr marL="285750" indent="-285750">
              <a:buFontTx/>
              <a:buChar char="-"/>
            </a:pPr>
            <a:r>
              <a:rPr lang="de-DE" b="0" dirty="0"/>
              <a:t>Implizite Modellierung</a:t>
            </a:r>
          </a:p>
          <a:p>
            <a:pPr marL="285750" indent="-285750">
              <a:buFontTx/>
              <a:buChar char="-"/>
            </a:pPr>
            <a:r>
              <a:rPr lang="de-DE" b="0" dirty="0"/>
              <a:t>Explizite Modellierung</a:t>
            </a:r>
          </a:p>
          <a:p>
            <a:pPr marL="285750" indent="-285750">
              <a:buFontTx/>
              <a:buChar char="-"/>
            </a:pPr>
            <a:r>
              <a:rPr lang="de-DE" b="0" dirty="0"/>
              <a:t>Mit / ohne Koordinaten</a:t>
            </a:r>
          </a:p>
          <a:p>
            <a:pPr marL="285750" indent="-285750">
              <a:buFontTx/>
              <a:buChar char="-"/>
            </a:pPr>
            <a:r>
              <a:rPr lang="de-DE" b="0" dirty="0"/>
              <a:t>Single-Cam-Modus</a:t>
            </a:r>
          </a:p>
          <a:p>
            <a:pPr marL="285750" indent="-285750">
              <a:buFontTx/>
              <a:buChar char="-"/>
            </a:pPr>
            <a:r>
              <a:rPr lang="de-DE" b="0" dirty="0"/>
              <a:t>Multi-Cam-Modus</a:t>
            </a:r>
          </a:p>
          <a:p>
            <a:pPr marL="285750" indent="-285750">
              <a:buFontTx/>
              <a:buChar char="-"/>
            </a:pPr>
            <a:r>
              <a:rPr lang="de-DE" dirty="0"/>
              <a:t>Summary-Graph:</a:t>
            </a:r>
            <a:r>
              <a:rPr lang="de-DE" b="0" dirty="0"/>
              <a:t> Der Multi-Cam-Wissensgraph zusammengefasst</a:t>
            </a:r>
          </a:p>
        </p:txBody>
      </p:sp>
      <p:pic>
        <p:nvPicPr>
          <p:cNvPr id="4" name="Grafik 3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864F78BA-D1ED-87E9-82CA-1130D345E2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61" b="51591"/>
          <a:stretch>
            <a:fillRect/>
          </a:stretch>
        </p:blipFill>
        <p:spPr>
          <a:xfrm>
            <a:off x="5701911" y="1695482"/>
            <a:ext cx="2764358" cy="1958282"/>
          </a:xfrm>
          <a:prstGeom prst="rect">
            <a:avLst/>
          </a:prstGeom>
        </p:spPr>
      </p:pic>
      <p:pic>
        <p:nvPicPr>
          <p:cNvPr id="5" name="Grafik 4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8C01ACFC-C04C-4B37-AF91-5173F0FFD8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61" t="54978" b="884"/>
          <a:stretch>
            <a:fillRect/>
          </a:stretch>
        </p:blipFill>
        <p:spPr>
          <a:xfrm>
            <a:off x="9102214" y="1777217"/>
            <a:ext cx="2764358" cy="1785490"/>
          </a:xfrm>
          <a:prstGeom prst="rect">
            <a:avLst/>
          </a:prstGeom>
        </p:spPr>
      </p:pic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FDD17FDA-A8AD-F99E-AD15-B8C435B7609F}"/>
              </a:ext>
            </a:extLst>
          </p:cNvPr>
          <p:cNvCxnSpPr>
            <a:cxnSpLocks/>
          </p:cNvCxnSpPr>
          <p:nvPr/>
        </p:nvCxnSpPr>
        <p:spPr>
          <a:xfrm>
            <a:off x="6557081" y="2937818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59BD6A84-6E94-CB9E-D5AC-7C952691CF7A}"/>
              </a:ext>
            </a:extLst>
          </p:cNvPr>
          <p:cNvCxnSpPr>
            <a:cxnSpLocks/>
          </p:cNvCxnSpPr>
          <p:nvPr/>
        </p:nvCxnSpPr>
        <p:spPr>
          <a:xfrm flipH="1">
            <a:off x="6637468" y="3090218"/>
            <a:ext cx="9445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811E951F-A3EA-BC79-2838-6C1584B94C08}"/>
              </a:ext>
            </a:extLst>
          </p:cNvPr>
          <p:cNvCxnSpPr>
            <a:cxnSpLocks/>
          </p:cNvCxnSpPr>
          <p:nvPr/>
        </p:nvCxnSpPr>
        <p:spPr>
          <a:xfrm flipH="1">
            <a:off x="6557081" y="2165770"/>
            <a:ext cx="441596" cy="691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F309CA8-490B-7C6B-8431-FF6F2EA74A02}"/>
              </a:ext>
            </a:extLst>
          </p:cNvPr>
          <p:cNvCxnSpPr>
            <a:cxnSpLocks/>
          </p:cNvCxnSpPr>
          <p:nvPr/>
        </p:nvCxnSpPr>
        <p:spPr>
          <a:xfrm>
            <a:off x="7119257" y="2127339"/>
            <a:ext cx="462756" cy="742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3D508AC8-BBAA-53CA-1234-D78AF3404FE9}"/>
              </a:ext>
            </a:extLst>
          </p:cNvPr>
          <p:cNvCxnSpPr>
            <a:cxnSpLocks/>
          </p:cNvCxnSpPr>
          <p:nvPr/>
        </p:nvCxnSpPr>
        <p:spPr>
          <a:xfrm>
            <a:off x="9966900" y="2965293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576E7CE-CD90-28EE-05AF-22CFFE7BBC25}"/>
              </a:ext>
            </a:extLst>
          </p:cNvPr>
          <p:cNvCxnSpPr>
            <a:cxnSpLocks/>
          </p:cNvCxnSpPr>
          <p:nvPr/>
        </p:nvCxnSpPr>
        <p:spPr>
          <a:xfrm flipH="1">
            <a:off x="10047287" y="3117693"/>
            <a:ext cx="9445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F40CC6DD-C8A8-0295-C7E7-394974D5CF57}"/>
              </a:ext>
            </a:extLst>
          </p:cNvPr>
          <p:cNvCxnSpPr>
            <a:cxnSpLocks/>
          </p:cNvCxnSpPr>
          <p:nvPr/>
        </p:nvCxnSpPr>
        <p:spPr>
          <a:xfrm flipH="1">
            <a:off x="9966900" y="2143421"/>
            <a:ext cx="432080" cy="741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3A454B52-FA13-BC8F-67EC-E99A410EABE6}"/>
              </a:ext>
            </a:extLst>
          </p:cNvPr>
          <p:cNvCxnSpPr>
            <a:cxnSpLocks/>
          </p:cNvCxnSpPr>
          <p:nvPr/>
        </p:nvCxnSpPr>
        <p:spPr>
          <a:xfrm>
            <a:off x="10529076" y="2154814"/>
            <a:ext cx="462756" cy="742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C9C08CA6-FA87-A3C1-82D5-D340F18C3D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31" t="33745" r="11824" b="37867"/>
          <a:stretch>
            <a:fillRect/>
          </a:stretch>
        </p:blipFill>
        <p:spPr>
          <a:xfrm>
            <a:off x="7814210" y="4755328"/>
            <a:ext cx="2592476" cy="1497518"/>
          </a:xfrm>
          <a:prstGeom prst="rect">
            <a:avLst/>
          </a:prstGeom>
        </p:spPr>
      </p:pic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D689AC35-21B0-B333-8A89-6DFFF9A90790}"/>
              </a:ext>
            </a:extLst>
          </p:cNvPr>
          <p:cNvCxnSpPr>
            <a:cxnSpLocks/>
          </p:cNvCxnSpPr>
          <p:nvPr/>
        </p:nvCxnSpPr>
        <p:spPr>
          <a:xfrm>
            <a:off x="8293183" y="5230269"/>
            <a:ext cx="13459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FEDDF58E-20F9-F1A1-6539-29C6157DAFF7}"/>
              </a:ext>
            </a:extLst>
          </p:cNvPr>
          <p:cNvCxnSpPr>
            <a:cxnSpLocks/>
          </p:cNvCxnSpPr>
          <p:nvPr/>
        </p:nvCxnSpPr>
        <p:spPr>
          <a:xfrm flipH="1">
            <a:off x="8534343" y="5382669"/>
            <a:ext cx="11357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feil: nach rechts 16">
            <a:extLst>
              <a:ext uri="{FF2B5EF4-FFF2-40B4-BE49-F238E27FC236}">
                <a16:creationId xmlns:a16="http://schemas.microsoft.com/office/drawing/2014/main" id="{FA8C59E8-AD31-7581-37C9-53528666FB8F}"/>
              </a:ext>
            </a:extLst>
          </p:cNvPr>
          <p:cNvSpPr/>
          <p:nvPr/>
        </p:nvSpPr>
        <p:spPr>
          <a:xfrm rot="3838849">
            <a:off x="7541797" y="4037349"/>
            <a:ext cx="1288494" cy="48463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4AC2170F-5BA0-2CD3-9E2F-590F4F90D6BD}"/>
              </a:ext>
            </a:extLst>
          </p:cNvPr>
          <p:cNvSpPr/>
          <p:nvPr/>
        </p:nvSpPr>
        <p:spPr>
          <a:xfrm rot="6958906">
            <a:off x="9161499" y="4063760"/>
            <a:ext cx="1134480" cy="48463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5AEA70C-C1F4-6B1C-9495-01307D17620B}"/>
              </a:ext>
            </a:extLst>
          </p:cNvPr>
          <p:cNvSpPr txBox="1"/>
          <p:nvPr/>
        </p:nvSpPr>
        <p:spPr>
          <a:xfrm>
            <a:off x="7187974" y="6049945"/>
            <a:ext cx="6097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Abb. 8: Zusammenfassung des Multi-Cam-Graphen</a:t>
            </a:r>
          </a:p>
        </p:txBody>
      </p:sp>
    </p:spTree>
    <p:extLst>
      <p:ext uri="{BB962C8B-B14F-4D97-AF65-F5344CB8AC3E}">
        <p14:creationId xmlns:p14="http://schemas.microsoft.com/office/powerpoint/2010/main" val="52379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EB584-08B8-2C77-BBC4-8F00711EF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01350D-7F17-5D99-14D0-575119BF9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Methodik</a:t>
            </a:r>
            <a:br>
              <a:rPr lang="de-DE" dirty="0"/>
            </a:br>
            <a:r>
              <a:rPr lang="de-DE" b="0" dirty="0"/>
              <a:t>Relationsermittlung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031800-0D0C-AB15-F36C-4CE750C9178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3756" y="1484313"/>
            <a:ext cx="10580688" cy="4344987"/>
          </a:xfrm>
        </p:spPr>
        <p:txBody>
          <a:bodyPr numCol="1"/>
          <a:lstStyle/>
          <a:p>
            <a:r>
              <a:rPr lang="de-DE" dirty="0"/>
              <a:t>Horizontale und vertikale Relationen: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Topologische Relationen:</a:t>
            </a:r>
          </a:p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4596B02-E062-B8DA-B317-DE483B583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556" y="1774720"/>
            <a:ext cx="4034400" cy="752580"/>
          </a:xfrm>
          <a:prstGeom prst="rect">
            <a:avLst/>
          </a:prstGeom>
        </p:spPr>
      </p:pic>
      <p:pic>
        <p:nvPicPr>
          <p:cNvPr id="5" name="Grafik 4" descr="Ein Bild, das Text, Maschine, rot enthält.">
            <a:extLst>
              <a:ext uri="{FF2B5EF4-FFF2-40B4-BE49-F238E27FC236}">
                <a16:creationId xmlns:a16="http://schemas.microsoft.com/office/drawing/2014/main" id="{BC294E08-E3CD-6FD5-383E-3256425A5B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89" t="20510" r="10759" b="36294"/>
          <a:stretch>
            <a:fillRect/>
          </a:stretch>
        </p:blipFill>
        <p:spPr>
          <a:xfrm>
            <a:off x="7696320" y="3552633"/>
            <a:ext cx="3616644" cy="2378053"/>
          </a:xfrm>
          <a:prstGeom prst="rect">
            <a:avLst/>
          </a:prstGeom>
        </p:spPr>
      </p:pic>
      <p:pic>
        <p:nvPicPr>
          <p:cNvPr id="9" name="Grafik 8" descr="Ein Bild, das Werkzeug, Maschine, Im Haus enthält.">
            <a:extLst>
              <a:ext uri="{FF2B5EF4-FFF2-40B4-BE49-F238E27FC236}">
                <a16:creationId xmlns:a16="http://schemas.microsoft.com/office/drawing/2014/main" id="{4DAE06FE-15CC-CCA3-06F4-30C13B3B06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8" t="9672" r="11922" b="29035"/>
          <a:stretch>
            <a:fillRect/>
          </a:stretch>
        </p:blipFill>
        <p:spPr>
          <a:xfrm>
            <a:off x="7696320" y="501148"/>
            <a:ext cx="3617489" cy="270004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6D0D771-77F8-5652-84B7-2C5611A75A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756" y="3845480"/>
            <a:ext cx="5387614" cy="783833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7E41231C-6AFD-47A0-8233-F73B6E902515}"/>
              </a:ext>
            </a:extLst>
          </p:cNvPr>
          <p:cNvSpPr txBox="1"/>
          <p:nvPr/>
        </p:nvSpPr>
        <p:spPr>
          <a:xfrm>
            <a:off x="7591820" y="3174248"/>
            <a:ext cx="6097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Abb. 9: Schleifmaschine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2FA44AC-7B43-5B34-65C1-178582758D96}"/>
              </a:ext>
            </a:extLst>
          </p:cNvPr>
          <p:cNvSpPr txBox="1"/>
          <p:nvPr/>
        </p:nvSpPr>
        <p:spPr>
          <a:xfrm>
            <a:off x="7591820" y="5930686"/>
            <a:ext cx="6097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Abb. 10: Schalter</a:t>
            </a:r>
          </a:p>
        </p:txBody>
      </p:sp>
    </p:spTree>
    <p:extLst>
      <p:ext uri="{BB962C8B-B14F-4D97-AF65-F5344CB8AC3E}">
        <p14:creationId xmlns:p14="http://schemas.microsoft.com/office/powerpoint/2010/main" val="2510327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364CB-CBC7-B2ED-76F1-B023870CB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85C253-6766-AF11-75B4-876B90F08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Methodik</a:t>
            </a:r>
            <a:br>
              <a:rPr lang="de-DE" dirty="0"/>
            </a:br>
            <a:r>
              <a:rPr lang="de-DE" b="0" dirty="0"/>
              <a:t>Multi-Cam-Modus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4A22A9-113F-772E-BB32-4BCA7620AB2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3756" y="1484313"/>
            <a:ext cx="10580688" cy="4344987"/>
          </a:xfrm>
        </p:spPr>
        <p:txBody>
          <a:bodyPr numCol="1"/>
          <a:lstStyle/>
          <a:p>
            <a:pPr marL="285750" lvl="1" indent="-285750">
              <a:buFontTx/>
              <a:buChar char="-"/>
            </a:pPr>
            <a:r>
              <a:rPr lang="de-DE" dirty="0"/>
              <a:t>Problem: Wie kann man herausfinden, ob ein Bauteil in Kamera 1 das gleiche Bauteil wie in Kamera 2 ist? </a:t>
            </a:r>
            <a:br>
              <a:rPr lang="de-DE" dirty="0"/>
            </a:br>
            <a:r>
              <a:rPr lang="de-DE" dirty="0"/>
              <a:t>-&gt; notwendig für „Verschmelzung“ der Perspektiven</a:t>
            </a:r>
          </a:p>
          <a:p>
            <a:pPr marL="285750" lvl="1" indent="-285750">
              <a:buFontTx/>
              <a:buChar char="-"/>
            </a:pPr>
            <a:r>
              <a:rPr lang="de-DE" dirty="0"/>
              <a:t>Gelöst mit </a:t>
            </a:r>
            <a:r>
              <a:rPr lang="de-DE" b="1" dirty="0"/>
              <a:t>Ähnlichkeitsformel: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DAEDBDA-65B3-938F-3544-97C3E883A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12" y="2295525"/>
            <a:ext cx="6315151" cy="3892550"/>
          </a:xfrm>
          <a:prstGeom prst="rect">
            <a:avLst/>
          </a:prstGeom>
        </p:spPr>
      </p:pic>
      <p:pic>
        <p:nvPicPr>
          <p:cNvPr id="6" name="Grafik 5" descr="Ein Bild, das Maschine, Werkzeugmaschine, Bautechnik, Werkzeugraum enthält.&#10;&#10;KI-generierte Inhalte können fehlerhaft sein.">
            <a:extLst>
              <a:ext uri="{FF2B5EF4-FFF2-40B4-BE49-F238E27FC236}">
                <a16:creationId xmlns:a16="http://schemas.microsoft.com/office/drawing/2014/main" id="{564B1DB6-F0C0-E63E-99C5-D983F2B778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63" t="6998" b="47554"/>
          <a:stretch>
            <a:fillRect/>
          </a:stretch>
        </p:blipFill>
        <p:spPr>
          <a:xfrm>
            <a:off x="8249478" y="1808921"/>
            <a:ext cx="3205921" cy="2086345"/>
          </a:xfrm>
          <a:prstGeom prst="rect">
            <a:avLst/>
          </a:prstGeom>
        </p:spPr>
      </p:pic>
      <p:pic>
        <p:nvPicPr>
          <p:cNvPr id="10" name="Grafik 9" descr="Ein Bild, das Maschine, Bautechnik, Werkzeugraum, Werkzeugmaschine enthält.&#10;&#10;KI-generierte Inhalte können fehlerhaft sein.">
            <a:extLst>
              <a:ext uri="{FF2B5EF4-FFF2-40B4-BE49-F238E27FC236}">
                <a16:creationId xmlns:a16="http://schemas.microsoft.com/office/drawing/2014/main" id="{5440347D-9E17-800E-FD8F-A4B08AE115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79" t="12704" b="45313"/>
          <a:stretch>
            <a:fillRect/>
          </a:stretch>
        </p:blipFill>
        <p:spPr>
          <a:xfrm>
            <a:off x="8249477" y="4106446"/>
            <a:ext cx="3205921" cy="1909937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FEA235AF-A209-CFFB-39BE-3E8F24C3B5BE}"/>
              </a:ext>
            </a:extLst>
          </p:cNvPr>
          <p:cNvSpPr txBox="1"/>
          <p:nvPr/>
        </p:nvSpPr>
        <p:spPr>
          <a:xfrm>
            <a:off x="8168289" y="3862357"/>
            <a:ext cx="6097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Abb. 11: Kameraperspektive 1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BC5A55B-C687-8B62-B277-E4B5807F2AF5}"/>
              </a:ext>
            </a:extLst>
          </p:cNvPr>
          <p:cNvSpPr txBox="1"/>
          <p:nvPr/>
        </p:nvSpPr>
        <p:spPr>
          <a:xfrm>
            <a:off x="8168289" y="6006326"/>
            <a:ext cx="6097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Abb. 12: Kameraperspektive 2</a:t>
            </a:r>
          </a:p>
        </p:txBody>
      </p:sp>
    </p:spTree>
    <p:extLst>
      <p:ext uri="{BB962C8B-B14F-4D97-AF65-F5344CB8AC3E}">
        <p14:creationId xmlns:p14="http://schemas.microsoft.com/office/powerpoint/2010/main" val="297852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16F96-B117-1738-48F1-209BE4703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F755C6-11C6-1CAE-2D3A-D2B522875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Methodik</a:t>
            </a:r>
            <a:br>
              <a:rPr lang="de-DE" dirty="0"/>
            </a:br>
            <a:r>
              <a:rPr lang="de-DE" b="0" dirty="0"/>
              <a:t>Transformation zu Tripeltext</a:t>
            </a:r>
          </a:p>
        </p:txBody>
      </p:sp>
      <p:pic>
        <p:nvPicPr>
          <p:cNvPr id="6" name="Grafik 5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E7B2A632-FB95-6194-B40E-C60A4700B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5" t="619" r="3813" b="9576"/>
          <a:stretch>
            <a:fillRect/>
          </a:stretch>
        </p:blipFill>
        <p:spPr>
          <a:xfrm>
            <a:off x="2015986" y="1189265"/>
            <a:ext cx="8160027" cy="4479469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AE9220-5B60-E94A-DE5F-6195AD5D8BE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3756" y="1484313"/>
            <a:ext cx="10580688" cy="4344987"/>
          </a:xfrm>
        </p:spPr>
        <p:txBody>
          <a:bodyPr numCol="1" anchor="ctr"/>
          <a:lstStyle/>
          <a:p>
            <a:endParaRPr lang="de-DE" b="0" dirty="0"/>
          </a:p>
          <a:p>
            <a:endParaRPr 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15E7FF75-7F90-9A7B-7FCD-CCFB813EDF4E}"/>
              </a:ext>
            </a:extLst>
          </p:cNvPr>
          <p:cNvCxnSpPr>
            <a:cxnSpLocks/>
          </p:cNvCxnSpPr>
          <p:nvPr/>
        </p:nvCxnSpPr>
        <p:spPr>
          <a:xfrm>
            <a:off x="4178292" y="3526031"/>
            <a:ext cx="711760" cy="1417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6E20FB23-F767-12C6-7A9E-1322B619256A}"/>
              </a:ext>
            </a:extLst>
          </p:cNvPr>
          <p:cNvCxnSpPr>
            <a:cxnSpLocks/>
          </p:cNvCxnSpPr>
          <p:nvPr/>
        </p:nvCxnSpPr>
        <p:spPr>
          <a:xfrm flipH="1" flipV="1">
            <a:off x="4315507" y="3526031"/>
            <a:ext cx="801721" cy="1430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C1B6F761-F87A-4089-88E2-24BBE4A5F4AD}"/>
              </a:ext>
            </a:extLst>
          </p:cNvPr>
          <p:cNvCxnSpPr>
            <a:cxnSpLocks/>
          </p:cNvCxnSpPr>
          <p:nvPr/>
        </p:nvCxnSpPr>
        <p:spPr>
          <a:xfrm flipH="1">
            <a:off x="2423224" y="3354285"/>
            <a:ext cx="1528133" cy="1667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5D408A42-CD41-0B71-8A96-4168448D6B7A}"/>
              </a:ext>
            </a:extLst>
          </p:cNvPr>
          <p:cNvCxnSpPr>
            <a:cxnSpLocks/>
          </p:cNvCxnSpPr>
          <p:nvPr/>
        </p:nvCxnSpPr>
        <p:spPr>
          <a:xfrm flipV="1">
            <a:off x="2568605" y="3526031"/>
            <a:ext cx="1452317" cy="1572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94CDE66A-9F8F-7E75-C86B-69520B1C4CC6}"/>
              </a:ext>
            </a:extLst>
          </p:cNvPr>
          <p:cNvCxnSpPr>
            <a:cxnSpLocks/>
          </p:cNvCxnSpPr>
          <p:nvPr/>
        </p:nvCxnSpPr>
        <p:spPr>
          <a:xfrm flipH="1" flipV="1">
            <a:off x="2868507" y="3230983"/>
            <a:ext cx="1082850" cy="77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B0FFB76B-40D8-9054-C053-6EE7D264E79E}"/>
              </a:ext>
            </a:extLst>
          </p:cNvPr>
          <p:cNvCxnSpPr>
            <a:cxnSpLocks/>
          </p:cNvCxnSpPr>
          <p:nvPr/>
        </p:nvCxnSpPr>
        <p:spPr>
          <a:xfrm flipH="1" flipV="1">
            <a:off x="3299525" y="2413337"/>
            <a:ext cx="725823" cy="781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B8995F07-902B-3723-6DF3-958D78ADD39C}"/>
              </a:ext>
            </a:extLst>
          </p:cNvPr>
          <p:cNvCxnSpPr>
            <a:cxnSpLocks/>
          </p:cNvCxnSpPr>
          <p:nvPr/>
        </p:nvCxnSpPr>
        <p:spPr>
          <a:xfrm flipH="1" flipV="1">
            <a:off x="3797283" y="1789149"/>
            <a:ext cx="308148" cy="1383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9AEEF3F-80FF-5886-4094-7A61D7E66CDA}"/>
              </a:ext>
            </a:extLst>
          </p:cNvPr>
          <p:cNvCxnSpPr>
            <a:cxnSpLocks/>
          </p:cNvCxnSpPr>
          <p:nvPr/>
        </p:nvCxnSpPr>
        <p:spPr>
          <a:xfrm flipV="1">
            <a:off x="4188222" y="1941392"/>
            <a:ext cx="532865" cy="1253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E6EAECF9-52E4-CFF2-0F08-5A7F91392E26}"/>
              </a:ext>
            </a:extLst>
          </p:cNvPr>
          <p:cNvCxnSpPr>
            <a:cxnSpLocks/>
          </p:cNvCxnSpPr>
          <p:nvPr/>
        </p:nvCxnSpPr>
        <p:spPr>
          <a:xfrm flipV="1">
            <a:off x="4250903" y="2821708"/>
            <a:ext cx="940368" cy="409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82FB9F89-39AE-47DE-2CF3-8635D97217D9}"/>
              </a:ext>
            </a:extLst>
          </p:cNvPr>
          <p:cNvSpPr txBox="1"/>
          <p:nvPr/>
        </p:nvSpPr>
        <p:spPr>
          <a:xfrm>
            <a:off x="2015986" y="5747936"/>
            <a:ext cx="6097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Abb. 13: Tripeltext-Transformation</a:t>
            </a:r>
          </a:p>
        </p:txBody>
      </p:sp>
    </p:spTree>
    <p:extLst>
      <p:ext uri="{BB962C8B-B14F-4D97-AF65-F5344CB8AC3E}">
        <p14:creationId xmlns:p14="http://schemas.microsoft.com/office/powerpoint/2010/main" val="2710893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8717B-2E78-F6F9-A582-18E8E73D7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B66719-ECB6-0BC0-E0BD-41C94245B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771" y="3835706"/>
            <a:ext cx="2181687" cy="492443"/>
          </a:xfrm>
        </p:spPr>
        <p:txBody>
          <a:bodyPr/>
          <a:lstStyle/>
          <a:p>
            <a:r>
              <a:rPr lang="de-DE" dirty="0"/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2747750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CCC89-6DB6-781F-D728-34E04D097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1D6435-62A6-34E0-643C-044EBFDE5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Evaluation</a:t>
            </a:r>
            <a:br>
              <a:rPr lang="de-DE" b="0" dirty="0"/>
            </a:br>
            <a:r>
              <a:rPr lang="de-DE" b="0" dirty="0"/>
              <a:t>Evaluationskriterien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711789-AD0B-89AB-82F1-8AE982DC38A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anchor="ctr"/>
          <a:lstStyle/>
          <a:p>
            <a:pPr lvl="2" indent="0">
              <a:buNone/>
            </a:pPr>
            <a:r>
              <a:rPr lang="de-DE" dirty="0"/>
              <a:t>Evaluation der Antworten der LLMs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Richtigkeit der Antwort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Vollständigkeit der Antwort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Weitere Anmerkungen und Auffälligkeiten</a:t>
            </a:r>
          </a:p>
          <a:p>
            <a:pPr marL="537750" lvl="2" indent="-285750">
              <a:buFont typeface="Wingdings" panose="05000000000000000000" pitchFamily="2" charset="2"/>
              <a:buChar char="è"/>
            </a:pPr>
            <a:r>
              <a:rPr lang="de-DE" dirty="0"/>
              <a:t>Aus diesen wird der Score-Wert berechnet</a:t>
            </a:r>
          </a:p>
          <a:p>
            <a:pPr lvl="2" indent="0">
              <a:buNone/>
            </a:pPr>
            <a:endParaRPr lang="de-DE" dirty="0"/>
          </a:p>
          <a:p>
            <a:pPr lvl="2" indent="0">
              <a:buNone/>
            </a:pPr>
            <a:r>
              <a:rPr lang="de-DE" dirty="0"/>
              <a:t>Ausgewählte LLMs:</a:t>
            </a:r>
          </a:p>
          <a:p>
            <a:pPr marL="537750" lvl="2" indent="-285750">
              <a:buFontTx/>
              <a:buChar char="-"/>
            </a:pPr>
            <a:endParaRPr lang="de-DE" dirty="0"/>
          </a:p>
          <a:p>
            <a:pPr marL="537750" lvl="2" indent="-285750">
              <a:buFontTx/>
              <a:buChar char="-"/>
            </a:pPr>
            <a:endParaRPr lang="de-DE" dirty="0"/>
          </a:p>
          <a:p>
            <a:pPr marL="537750" lvl="2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725AAEE-5AD7-A269-20C9-1084EAA70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95" y="4239224"/>
            <a:ext cx="9608845" cy="165971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1E74CDF7-BFC6-C568-EBCD-C4F12EF197C0}"/>
              </a:ext>
            </a:extLst>
          </p:cNvPr>
          <p:cNvSpPr txBox="1"/>
          <p:nvPr/>
        </p:nvSpPr>
        <p:spPr>
          <a:xfrm>
            <a:off x="998195" y="5845214"/>
            <a:ext cx="6097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Abb. 14: Tabelle der evaluierten LLMs</a:t>
            </a:r>
          </a:p>
        </p:txBody>
      </p:sp>
    </p:spTree>
    <p:extLst>
      <p:ext uri="{BB962C8B-B14F-4D97-AF65-F5344CB8AC3E}">
        <p14:creationId xmlns:p14="http://schemas.microsoft.com/office/powerpoint/2010/main" val="1084438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03730-59B2-F00C-1FA5-4A86E78D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B614FD-0302-C54A-C1B9-75F05A2E2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Evaluation</a:t>
            </a:r>
            <a:br>
              <a:rPr lang="de-DE" b="0" dirty="0"/>
            </a:br>
            <a:r>
              <a:rPr lang="de-DE" b="0" dirty="0"/>
              <a:t>Evaluationsaufbau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13B243-3DD3-222D-A04F-DC6676473D7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4711" y="1769165"/>
            <a:ext cx="10580688" cy="4060135"/>
          </a:xfrm>
        </p:spPr>
        <p:txBody>
          <a:bodyPr anchor="t"/>
          <a:lstStyle/>
          <a:p>
            <a:pPr marL="537750" lvl="2" indent="-285750">
              <a:buFontTx/>
              <a:buChar char="-"/>
            </a:pPr>
            <a:r>
              <a:rPr lang="de-DE" dirty="0"/>
              <a:t>3 verschiede Maschinen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4 Fragen unterschiedlicher Komplexität pro Maschine</a:t>
            </a:r>
          </a:p>
          <a:p>
            <a:pPr marL="537750" lvl="2" indent="-285750">
              <a:buFontTx/>
              <a:buChar char="-"/>
            </a:pPr>
            <a:endParaRPr lang="de-DE" dirty="0"/>
          </a:p>
          <a:p>
            <a:pPr marL="537750" lvl="2" indent="-285750">
              <a:buFontTx/>
              <a:buChar char="-"/>
            </a:pPr>
            <a:endParaRPr lang="de-DE" dirty="0"/>
          </a:p>
          <a:p>
            <a:pPr marL="537750" lvl="2" indent="-285750">
              <a:buFontTx/>
              <a:buChar char="-"/>
            </a:pPr>
            <a:endParaRPr lang="de-DE" dirty="0"/>
          </a:p>
          <a:p>
            <a:pPr marL="537750" lvl="2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69CEE065-C598-6EB5-35B5-7A870D527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782354"/>
              </p:ext>
            </p:extLst>
          </p:nvPr>
        </p:nvGraphicFramePr>
        <p:xfrm>
          <a:off x="2101055" y="2831657"/>
          <a:ext cx="812799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28303076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1571032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765762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Einfache Wissensabfrage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Multihop</a:t>
                      </a:r>
                      <a:r>
                        <a:rPr lang="de-DE" dirty="0"/>
                        <a:t>-Wissensabfrage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Mutlihop</a:t>
                      </a:r>
                      <a:r>
                        <a:rPr lang="de-DE" dirty="0"/>
                        <a:t>-Wissensabfrage mit Allgemeinwissen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973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Können mit einem Tripelpaar beantwortet werden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Benötigen Verständnis aller Tripelpaare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Benötigen Verständnis aller Tripelpaare + Allgemeinwissen über bestimmte Bauteile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225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Which component is located above the motor? 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Where is the left grinding wheel located?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the motor overheats, which parts would be affected?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794569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07A05D66-18C2-20DF-C9D4-51F55456F0A2}"/>
              </a:ext>
            </a:extLst>
          </p:cNvPr>
          <p:cNvSpPr txBox="1"/>
          <p:nvPr/>
        </p:nvSpPr>
        <p:spPr>
          <a:xfrm>
            <a:off x="2101055" y="5849177"/>
            <a:ext cx="6097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Abb. 15: Tabelle der Evaluationsfragen</a:t>
            </a:r>
          </a:p>
        </p:txBody>
      </p:sp>
    </p:spTree>
    <p:extLst>
      <p:ext uri="{BB962C8B-B14F-4D97-AF65-F5344CB8AC3E}">
        <p14:creationId xmlns:p14="http://schemas.microsoft.com/office/powerpoint/2010/main" val="595581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83D35-F567-7F4D-1613-0E9CB713E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1D985E-8737-8DC4-4A1A-A50F9EDA0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Evaluation</a:t>
            </a:r>
            <a:br>
              <a:rPr lang="de-DE" b="0" dirty="0"/>
            </a:br>
            <a:r>
              <a:rPr lang="de-DE" b="0" dirty="0"/>
              <a:t>Evaluationsergebnisse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DBD3D4-7340-52A2-8476-A2984DDFEC2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4711" y="1769165"/>
            <a:ext cx="10580688" cy="4060135"/>
          </a:xfrm>
        </p:spPr>
        <p:txBody>
          <a:bodyPr anchor="t"/>
          <a:lstStyle/>
          <a:p>
            <a:pPr lvl="2" indent="0">
              <a:buNone/>
            </a:pPr>
            <a:endParaRPr lang="de-DE" dirty="0"/>
          </a:p>
          <a:p>
            <a:pPr marL="537750" lvl="2" indent="-285750">
              <a:buFontTx/>
              <a:buChar char="-"/>
            </a:pPr>
            <a:endParaRPr lang="de-DE" dirty="0"/>
          </a:p>
          <a:p>
            <a:pPr marL="537750" lvl="2" indent="-285750">
              <a:buFontTx/>
              <a:buChar char="-"/>
            </a:pPr>
            <a:endParaRPr lang="de-DE" dirty="0"/>
          </a:p>
          <a:p>
            <a:pPr marL="537750" lvl="2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</p:txBody>
      </p:sp>
      <p:pic>
        <p:nvPicPr>
          <p:cNvPr id="6" name="Grafik 5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6400E0BD-86B2-7342-1570-18B98A938A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69" y="1745052"/>
            <a:ext cx="5406360" cy="3367896"/>
          </a:xfrm>
          <a:prstGeom prst="rect">
            <a:avLst/>
          </a:prstGeom>
        </p:spPr>
      </p:pic>
      <p:pic>
        <p:nvPicPr>
          <p:cNvPr id="8" name="Grafik 7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A6D80706-A24D-6BE9-A9AE-9D5993CA38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071" y="1745052"/>
            <a:ext cx="5406360" cy="3367896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9CBDDA25-5CF2-7785-A397-83F8CE6A3CC9}"/>
              </a:ext>
            </a:extLst>
          </p:cNvPr>
          <p:cNvSpPr txBox="1"/>
          <p:nvPr/>
        </p:nvSpPr>
        <p:spPr>
          <a:xfrm>
            <a:off x="504569" y="5194124"/>
            <a:ext cx="6097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Abb. 16: Ergebnisse der LLMs mit Tripel-Listen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467352C-1E40-40B2-9B75-1BBA1F2F0F73}"/>
              </a:ext>
            </a:extLst>
          </p:cNvPr>
          <p:cNvSpPr txBox="1"/>
          <p:nvPr/>
        </p:nvSpPr>
        <p:spPr>
          <a:xfrm>
            <a:off x="6281071" y="5189434"/>
            <a:ext cx="6097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Abb. 17: Ergebnisse der LLMs mit Wissensgraph-Dateien</a:t>
            </a:r>
          </a:p>
        </p:txBody>
      </p:sp>
    </p:spTree>
    <p:extLst>
      <p:ext uri="{BB962C8B-B14F-4D97-AF65-F5344CB8AC3E}">
        <p14:creationId xmlns:p14="http://schemas.microsoft.com/office/powerpoint/2010/main" val="14987860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6EC12-5FDF-BC3A-CB23-FCFF41C2E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F7FAE1-BCD1-E0B3-689A-B4733B9DA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Evaluation</a:t>
            </a:r>
            <a:br>
              <a:rPr lang="de-DE" b="0" dirty="0"/>
            </a:br>
            <a:r>
              <a:rPr lang="de-DE" b="0" dirty="0"/>
              <a:t>Evaluationsergebnisse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CA3137-316A-746D-887A-B3FD9B5E506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4711" y="1769165"/>
            <a:ext cx="10580688" cy="4060135"/>
          </a:xfrm>
        </p:spPr>
        <p:txBody>
          <a:bodyPr anchor="t"/>
          <a:lstStyle/>
          <a:p>
            <a:pPr lvl="2" indent="0">
              <a:buNone/>
            </a:pPr>
            <a:endParaRPr lang="de-DE" dirty="0"/>
          </a:p>
          <a:p>
            <a:pPr marL="537750" lvl="2" indent="-285750">
              <a:buFontTx/>
              <a:buChar char="-"/>
            </a:pPr>
            <a:endParaRPr lang="de-DE" dirty="0"/>
          </a:p>
          <a:p>
            <a:pPr marL="537750" lvl="2" indent="-285750">
              <a:buFontTx/>
              <a:buChar char="-"/>
            </a:pPr>
            <a:endParaRPr lang="de-DE" dirty="0"/>
          </a:p>
          <a:p>
            <a:pPr marL="537750" lvl="2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7B20F007-CAB2-8EA8-C14E-2532591E95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534" y="1147056"/>
            <a:ext cx="4525005" cy="2289448"/>
          </a:xfrm>
          <a:prstGeom prst="rect">
            <a:avLst/>
          </a:prstGeom>
        </p:spPr>
      </p:pic>
      <p:pic>
        <p:nvPicPr>
          <p:cNvPr id="9" name="Grafik 8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939D6AC4-DD53-A9A6-C203-B753163ED2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248" y="1147056"/>
            <a:ext cx="4316272" cy="2289448"/>
          </a:xfrm>
          <a:prstGeom prst="rect">
            <a:avLst/>
          </a:prstGeom>
        </p:spPr>
      </p:pic>
      <p:pic>
        <p:nvPicPr>
          <p:cNvPr id="11" name="Grafik 10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21DAA15A-EBB5-D7FE-0214-0CE94C07B7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533" y="3707782"/>
            <a:ext cx="4525005" cy="2333327"/>
          </a:xfrm>
          <a:prstGeom prst="rect">
            <a:avLst/>
          </a:prstGeom>
        </p:spPr>
      </p:pic>
      <p:pic>
        <p:nvPicPr>
          <p:cNvPr id="13" name="Grafik 12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81BAB5EE-37C2-7B74-67AC-E439CECF9E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248" y="3719316"/>
            <a:ext cx="4324334" cy="2321793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34B10E1A-95F9-3093-F050-6D6D27F972D5}"/>
              </a:ext>
            </a:extLst>
          </p:cNvPr>
          <p:cNvSpPr txBox="1"/>
          <p:nvPr/>
        </p:nvSpPr>
        <p:spPr>
          <a:xfrm>
            <a:off x="1394419" y="6019879"/>
            <a:ext cx="6097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Abb. 20: Ergebnisse Llama-3.1-8b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01489DC-FB1A-54E0-E2B4-5B1FD81FFA4D}"/>
              </a:ext>
            </a:extLst>
          </p:cNvPr>
          <p:cNvSpPr txBox="1"/>
          <p:nvPr/>
        </p:nvSpPr>
        <p:spPr>
          <a:xfrm>
            <a:off x="6424909" y="3398253"/>
            <a:ext cx="6097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Abb. 19: Ergebnisse DeepSeek-V3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9B5FCB6-46AE-97BC-A0E0-94084E70ED33}"/>
              </a:ext>
            </a:extLst>
          </p:cNvPr>
          <p:cNvSpPr txBox="1"/>
          <p:nvPr/>
        </p:nvSpPr>
        <p:spPr>
          <a:xfrm>
            <a:off x="1394418" y="3452013"/>
            <a:ext cx="6097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Abb. 18: Ergebnisse DeepSeek-R1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EEA7EAF-51F4-44E5-ED06-0371D529E32A}"/>
              </a:ext>
            </a:extLst>
          </p:cNvPr>
          <p:cNvSpPr txBox="1"/>
          <p:nvPr/>
        </p:nvSpPr>
        <p:spPr>
          <a:xfrm>
            <a:off x="6424909" y="6030494"/>
            <a:ext cx="6097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Abb. 21: Ergebnisse Qwen-2.5-3B</a:t>
            </a:r>
          </a:p>
        </p:txBody>
      </p:sp>
    </p:spTree>
    <p:extLst>
      <p:ext uri="{BB962C8B-B14F-4D97-AF65-F5344CB8AC3E}">
        <p14:creationId xmlns:p14="http://schemas.microsoft.com/office/powerpoint/2010/main" val="1445057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62699-882C-EB08-94CD-111FB5401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A0A303-45D9-7467-C652-23A39DE70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771" y="3835706"/>
            <a:ext cx="2213748" cy="492443"/>
          </a:xfrm>
        </p:spPr>
        <p:txBody>
          <a:bodyPr/>
          <a:lstStyle/>
          <a:p>
            <a:r>
              <a:rPr lang="de-DE" dirty="0"/>
              <a:t>Diskussion</a:t>
            </a:r>
          </a:p>
        </p:txBody>
      </p:sp>
    </p:spTree>
    <p:extLst>
      <p:ext uri="{BB962C8B-B14F-4D97-AF65-F5344CB8AC3E}">
        <p14:creationId xmlns:p14="http://schemas.microsoft.com/office/powerpoint/2010/main" val="11663194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542A0-7BC9-3E55-FFAA-55FF5BFB1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3F6137-E6B7-90CC-4624-EBC8E2BAB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Diskussion</a:t>
            </a:r>
            <a:br>
              <a:rPr lang="de-DE" b="0" dirty="0"/>
            </a:br>
            <a:r>
              <a:rPr lang="de-DE" b="0" dirty="0"/>
              <a:t>Limitationen und methodische Herausforderungen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C4C5ED-C1FC-0DD6-9408-53A500DFFE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anchor="ctr"/>
          <a:lstStyle/>
          <a:p>
            <a:pPr lvl="2" indent="0">
              <a:buNone/>
            </a:pPr>
            <a:r>
              <a:rPr lang="de-DE" b="1" dirty="0"/>
              <a:t>Methodische Herausforderungen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Begrenzter Datensatz, nur 4 LLMs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Ermittlung Relationen (zweidimensionale Koordinaten, dreidimensionaler Raum)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Unterschiedliche Interpretationen von Relationen (z.B. „</a:t>
            </a:r>
            <a:r>
              <a:rPr lang="de-DE" dirty="0" err="1"/>
              <a:t>below</a:t>
            </a:r>
            <a:r>
              <a:rPr lang="de-DE" dirty="0"/>
              <a:t>“)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Erkennung gleicher Komponenten wenig robust</a:t>
            </a:r>
          </a:p>
          <a:p>
            <a:pPr lvl="2" indent="0">
              <a:buNone/>
            </a:pPr>
            <a:r>
              <a:rPr lang="de-DE" b="1" dirty="0"/>
              <a:t>Limitationen: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Ergebnisse nicht ohne Weiteres auf andere Objektklassen, Einsatzszenarien übertragbar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Vollständige objektive Bewertung der Antworten nicht möglich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Kontextlängenbeschränkungen der LLMs können </a:t>
            </a:r>
            <a:r>
              <a:rPr lang="de-DE" dirty="0" err="1"/>
              <a:t>Wissensgraphengröße</a:t>
            </a:r>
            <a:r>
              <a:rPr lang="de-DE" dirty="0"/>
              <a:t> limitieren</a:t>
            </a:r>
          </a:p>
        </p:txBody>
      </p:sp>
    </p:spTree>
    <p:extLst>
      <p:ext uri="{BB962C8B-B14F-4D97-AF65-F5344CB8AC3E}">
        <p14:creationId xmlns:p14="http://schemas.microsoft.com/office/powerpoint/2010/main" val="42058913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49E40-F4E1-5DBA-713D-2FDE43789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71B2E1-F1D3-204D-81F3-8DEDF3DD9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Diskussion</a:t>
            </a:r>
            <a:br>
              <a:rPr lang="de-DE" b="0" dirty="0"/>
            </a:br>
            <a:r>
              <a:rPr lang="de-DE" b="0" dirty="0"/>
              <a:t>Beantwortung der Forschungsfragen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6310CB-BC88-2A1C-0A7F-EDDE6B5B53E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anchor="ctr"/>
          <a:lstStyle/>
          <a:p>
            <a:pPr lvl="2" indent="0">
              <a:buNone/>
            </a:pPr>
            <a:r>
              <a:rPr lang="de-DE" b="1" dirty="0"/>
              <a:t>Kann die Erstellung eines Wissensgraphen aus annotierten Bilddateien automatisiert werden? 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Ist möglich, indem Relationen algorithmisch abgeleitet werden</a:t>
            </a:r>
          </a:p>
          <a:p>
            <a:pPr marL="537750" lvl="2" indent="-285750">
              <a:buFont typeface="Wingdings" panose="05000000000000000000" pitchFamily="2" charset="2"/>
              <a:buChar char="è"/>
            </a:pPr>
            <a:r>
              <a:rPr lang="de-DE" dirty="0"/>
              <a:t>Vollständig von Perspektive abhängig (</a:t>
            </a:r>
            <a:r>
              <a:rPr lang="de-DE" dirty="0" err="1"/>
              <a:t>Bounding</a:t>
            </a:r>
            <a:r>
              <a:rPr lang="de-DE" dirty="0"/>
              <a:t>-Box-Koordinaten), hohe Varianz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Herausforderungen in Robustheit und Skalierbarkeit eröffnen weiteren Forschungsbedarf</a:t>
            </a:r>
          </a:p>
          <a:p>
            <a:pPr marL="537750" lvl="2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235340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9FCF6-7E0B-0DBA-8811-A2C0410E4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8E9BFB-70BF-A83D-5803-B07EEAABD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Diskussion</a:t>
            </a:r>
            <a:br>
              <a:rPr lang="de-DE" b="0" dirty="0"/>
            </a:br>
            <a:r>
              <a:rPr lang="de-DE" b="0" dirty="0"/>
              <a:t>Beantwortung der Forschungsfragen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3A5FA1A-A254-B5CF-5B53-9785A0F26D7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anchor="ctr"/>
          <a:lstStyle/>
          <a:p>
            <a:pPr lvl="2" indent="0">
              <a:buNone/>
            </a:pPr>
            <a:r>
              <a:rPr lang="de-DE" b="1" dirty="0"/>
              <a:t>Welche </a:t>
            </a:r>
            <a:r>
              <a:rPr lang="de-DE" b="1" dirty="0" err="1"/>
              <a:t>Wissensgraphmodellierung</a:t>
            </a:r>
            <a:r>
              <a:rPr lang="de-DE" b="1" dirty="0"/>
              <a:t> eignet sich am besten für den Einsatz in einem LLM-basierten KI-Wartungsassistenten? 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Kann nicht eindeutig beantwortet werden, hängt von Faktoren ab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Einzelne Kamera: implizite Modellierungen mit Koordinaten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Mehrere Kameras: implizite Summary-Graphen</a:t>
            </a:r>
          </a:p>
          <a:p>
            <a:pPr marL="537750" lvl="2" indent="-285750">
              <a:buFontTx/>
              <a:buChar char="-"/>
            </a:pPr>
            <a:endParaRPr lang="de-DE" dirty="0"/>
          </a:p>
          <a:p>
            <a:pPr marL="537750" lvl="2" indent="-285750">
              <a:buFontTx/>
              <a:buChar char="-"/>
            </a:pPr>
            <a:r>
              <a:rPr lang="de-DE" dirty="0"/>
              <a:t>Deutlich bessere Performance bei Tripeltext-Dateien</a:t>
            </a:r>
          </a:p>
          <a:p>
            <a:pPr marL="285750" indent="-285750">
              <a:buFontTx/>
              <a:buChar char="-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592832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DC203-BB83-49D5-61E9-71B5A6BF6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C2684B-A3D0-003E-C85B-6C108E57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Diskussion</a:t>
            </a:r>
            <a:br>
              <a:rPr lang="de-DE" b="0" dirty="0"/>
            </a:br>
            <a:r>
              <a:rPr lang="de-DE" b="0" dirty="0"/>
              <a:t>Beantwortung der Forschungsfragen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44240A-1BFC-BE85-C40B-241A8D6B012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anchor="ctr"/>
          <a:lstStyle/>
          <a:p>
            <a:pPr lvl="2" indent="0">
              <a:buNone/>
            </a:pPr>
            <a:r>
              <a:rPr lang="de-DE" b="1" dirty="0"/>
              <a:t>Welche Modelle sind für den Einsatz mit Wissensgraphen geeignet?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Ebenfalls nicht eindeutig beantwortbar -&gt; zu viele mögliche Modelle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Positiver Zusammenhang zwischen Anzahl Parameter und Antwortqualität</a:t>
            </a:r>
          </a:p>
          <a:p>
            <a:pPr marL="537750" lvl="2" indent="-285750">
              <a:buFontTx/>
              <a:buChar char="-"/>
            </a:pPr>
            <a:r>
              <a:rPr lang="de-DE" dirty="0" err="1"/>
              <a:t>Reasoning</a:t>
            </a:r>
            <a:r>
              <a:rPr lang="de-DE" dirty="0"/>
              <a:t>-Modelle ungeeignet für Echtzeitanwendungen (Antwortzeiten bis zu 200 Sekunden)</a:t>
            </a:r>
          </a:p>
        </p:txBody>
      </p:sp>
    </p:spTree>
    <p:extLst>
      <p:ext uri="{BB962C8B-B14F-4D97-AF65-F5344CB8AC3E}">
        <p14:creationId xmlns:p14="http://schemas.microsoft.com/office/powerpoint/2010/main" val="10924823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5060A-8F10-14B4-6D38-4FAD9AE61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51CB8E-C13B-6EC1-08DC-B5686335F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Diskussion</a:t>
            </a:r>
            <a:br>
              <a:rPr lang="de-DE" b="0" dirty="0"/>
            </a:br>
            <a:r>
              <a:rPr lang="de-DE" b="0" dirty="0"/>
              <a:t>Mögliche Weiterentwicklung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FB07E6-73BC-D330-CA7C-EE8012E37C8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anchor="ctr"/>
          <a:lstStyle/>
          <a:p>
            <a:pPr marL="537750" lvl="2" indent="-285750">
              <a:buFontTx/>
              <a:buChar char="-"/>
            </a:pPr>
            <a:r>
              <a:rPr lang="de-DE" dirty="0"/>
              <a:t>Verbesserte, komplexere Algorithmen -&gt; stärken Robustheit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Feature-</a:t>
            </a:r>
            <a:r>
              <a:rPr lang="de-DE" dirty="0" err="1"/>
              <a:t>Matching</a:t>
            </a:r>
            <a:r>
              <a:rPr lang="de-DE" dirty="0"/>
              <a:t>-Verfahren -&gt; weitere Informationen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3D-Beschreibung der Maschinen (z.B. 4 Kameras aus jeder Richtung)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Prompt-Engineering verbessern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Vorverarbeitung mittels Retrieval </a:t>
            </a:r>
            <a:r>
              <a:rPr lang="de-DE" dirty="0" err="1"/>
              <a:t>Augmented</a:t>
            </a:r>
            <a:r>
              <a:rPr lang="de-DE" dirty="0"/>
              <a:t> Generation -&gt; Reduzierung der Komplexität </a:t>
            </a:r>
            <a:r>
              <a:rPr lang="de-DE" sz="1100" dirty="0"/>
              <a:t>[2]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Generierte Wissensgraph mit Faktenwissen zu Bauteilen anreichern</a:t>
            </a:r>
          </a:p>
        </p:txBody>
      </p:sp>
    </p:spTree>
    <p:extLst>
      <p:ext uri="{BB962C8B-B14F-4D97-AF65-F5344CB8AC3E}">
        <p14:creationId xmlns:p14="http://schemas.microsoft.com/office/powerpoint/2010/main" val="9283708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032D3-A58E-30FD-B201-125470DEA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03126A-22D1-4607-6174-7351440C4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 / Distributionen</a:t>
            </a:r>
            <a:endParaRPr lang="de-DE" b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61BDCF-165F-10D0-3699-982CFFA8622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anchor="ctr"/>
          <a:lstStyle/>
          <a:p>
            <a:pPr marL="537750" lvl="2" indent="-285750">
              <a:buFontTx/>
              <a:buChar char="-"/>
            </a:pPr>
            <a:r>
              <a:rPr lang="de-DE" dirty="0"/>
              <a:t>Verfahren zur automatisierten Wissensgraph-Erstellung aus annotierten Bilddateien entwickelt</a:t>
            </a:r>
          </a:p>
          <a:p>
            <a:pPr marL="537750" lvl="2" indent="-285750">
              <a:buFont typeface="Wingdings" panose="05000000000000000000" pitchFamily="2" charset="2"/>
              <a:buChar char="è"/>
            </a:pPr>
            <a:r>
              <a:rPr lang="de-DE" dirty="0"/>
              <a:t>Algorithmen zur </a:t>
            </a:r>
            <a:r>
              <a:rPr lang="de-DE" dirty="0" err="1"/>
              <a:t>Relationsherleitung</a:t>
            </a:r>
            <a:r>
              <a:rPr lang="de-DE" dirty="0"/>
              <a:t> entwickelt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Einfluss zwischen verschiedenen Modellierungsansätzen, Datenformaten und LLMs untersucht</a:t>
            </a:r>
          </a:p>
          <a:p>
            <a:pPr marL="537750" lvl="2" indent="-285750">
              <a:buFontTx/>
              <a:buChar char="-"/>
            </a:pPr>
            <a:r>
              <a:rPr lang="de-DE" dirty="0"/>
              <a:t>Prozess kann in den praktischen Ablauf des KI-Wartungsassistenten integriert werden</a:t>
            </a:r>
          </a:p>
          <a:p>
            <a:pPr marL="537750" lvl="2" indent="-285750">
              <a:buFontTx/>
              <a:buChar char="-"/>
            </a:pPr>
            <a:endParaRPr lang="de-DE" dirty="0"/>
          </a:p>
          <a:p>
            <a:pPr marL="537750" lvl="2" indent="-285750">
              <a:buFontTx/>
              <a:buChar char="-"/>
            </a:pPr>
            <a:r>
              <a:rPr lang="de-DE" dirty="0"/>
              <a:t>Ergebnisse als wissenschaftliche Veröffentlichung geplant</a:t>
            </a:r>
          </a:p>
        </p:txBody>
      </p:sp>
    </p:spTree>
    <p:extLst>
      <p:ext uri="{BB962C8B-B14F-4D97-AF65-F5344CB8AC3E}">
        <p14:creationId xmlns:p14="http://schemas.microsoft.com/office/powerpoint/2010/main" val="36180733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6CBA6-529C-1961-C5FF-505D7CAA8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1530E2-F381-40EC-99F8-53653241F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771" y="3835706"/>
            <a:ext cx="2571217" cy="492443"/>
          </a:xfrm>
        </p:spPr>
        <p:txBody>
          <a:bodyPr/>
          <a:lstStyle/>
          <a:p>
            <a:r>
              <a:rPr lang="de-DE" dirty="0"/>
              <a:t>Vielen Dank!</a:t>
            </a:r>
          </a:p>
        </p:txBody>
      </p:sp>
    </p:spTree>
    <p:extLst>
      <p:ext uri="{BB962C8B-B14F-4D97-AF65-F5344CB8AC3E}">
        <p14:creationId xmlns:p14="http://schemas.microsoft.com/office/powerpoint/2010/main" val="19437874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38E9F-5860-302A-5C56-0D053C2FE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530F4C-E347-6D25-E6AC-26DE33C09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dirty="0"/>
              <a:t>Quellen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6CE60B-A246-F250-0991-6E26608FD62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dirty="0"/>
              <a:t>Bildquellen:</a:t>
            </a:r>
          </a:p>
          <a:p>
            <a:pPr>
              <a:spcBef>
                <a:spcPts val="600"/>
              </a:spcBef>
            </a:pPr>
            <a:r>
              <a:rPr lang="de-DE" sz="1100" u="sng" dirty="0">
                <a:hlinkClick r:id="rId2"/>
              </a:rPr>
              <a:t>https://cdn1.botland.de/128235-large_default/raspberry-pi-5-2gb.jpg</a:t>
            </a:r>
            <a:endParaRPr lang="de-DE" sz="1100" dirty="0"/>
          </a:p>
          <a:p>
            <a:pPr>
              <a:spcBef>
                <a:spcPts val="600"/>
              </a:spcBef>
            </a:pPr>
            <a:r>
              <a:rPr lang="de-DE" sz="1100" u="sng" dirty="0">
                <a:hlinkClick r:id="rId3"/>
              </a:rPr>
              <a:t>https://m.media-amazon.com/images/I/41AbFOdJqQL.jpg</a:t>
            </a:r>
            <a:endParaRPr lang="de-DE" sz="1100" dirty="0"/>
          </a:p>
          <a:p>
            <a:pPr>
              <a:spcBef>
                <a:spcPts val="600"/>
              </a:spcBef>
            </a:pPr>
            <a:r>
              <a:rPr lang="de-DE" sz="1100" u="sng" dirty="0">
                <a:hlinkClick r:id="rId4"/>
              </a:rPr>
              <a:t>https://marketplace.canva.com/FaoS8/MAErepFaoS8/1/tl/canva-person-icon-MAErepFaoS8.png</a:t>
            </a:r>
            <a:endParaRPr lang="de-DE" sz="1100" dirty="0"/>
          </a:p>
          <a:p>
            <a:pPr>
              <a:spcBef>
                <a:spcPts val="600"/>
              </a:spcBef>
            </a:pPr>
            <a:r>
              <a:rPr lang="de-DE" sz="1100" u="sng" dirty="0">
                <a:hlinkClick r:id="rId5"/>
              </a:rPr>
              <a:t>https://upload.wikimedia.org/wikipedia/commons/1/13/ChatGPT-Logo.png</a:t>
            </a:r>
            <a:endParaRPr lang="de-DE" sz="1100" dirty="0"/>
          </a:p>
          <a:p>
            <a:pPr>
              <a:spcBef>
                <a:spcPts val="600"/>
              </a:spcBef>
            </a:pPr>
            <a:r>
              <a:rPr lang="de-DE" sz="1100" u="sng" dirty="0">
                <a:hlinkClick r:id="rId6"/>
              </a:rPr>
              <a:t>https://www.beamer24.de/media/image/01/d0/9d/BenQ-LK935_Laser-Beamer_4K_5500-Lm_04.jpg</a:t>
            </a:r>
            <a:endParaRPr lang="de-DE" sz="1100" u="sng" dirty="0"/>
          </a:p>
          <a:p>
            <a:r>
              <a:rPr lang="de-DE" dirty="0"/>
              <a:t>Literaturquellen:</a:t>
            </a:r>
          </a:p>
          <a:p>
            <a:pPr>
              <a:spcBef>
                <a:spcPts val="600"/>
              </a:spcBef>
            </a:pPr>
            <a:r>
              <a:rPr lang="de-DE" sz="1100" dirty="0"/>
              <a:t>[1] Fabian Pfitzner, Alexander Braun und Andre Borrmann. “</a:t>
            </a:r>
            <a:r>
              <a:rPr lang="de-DE" sz="1100" dirty="0" err="1"/>
              <a:t>From</a:t>
            </a:r>
            <a:r>
              <a:rPr lang="de-DE" sz="1100" dirty="0"/>
              <a:t> </a:t>
            </a:r>
            <a:r>
              <a:rPr lang="de-DE" sz="1100" dirty="0" err="1"/>
              <a:t>data</a:t>
            </a:r>
            <a:r>
              <a:rPr lang="de-DE" sz="1100" dirty="0"/>
              <a:t> </a:t>
            </a:r>
            <a:r>
              <a:rPr lang="de-DE" sz="1100" dirty="0" err="1"/>
              <a:t>to</a:t>
            </a:r>
            <a:r>
              <a:rPr lang="de-DE" sz="1100" dirty="0"/>
              <a:t> </a:t>
            </a:r>
            <a:r>
              <a:rPr lang="de-DE" sz="1100" dirty="0" err="1"/>
              <a:t>knowledge</a:t>
            </a:r>
            <a:r>
              <a:rPr lang="de-DE" sz="1100" dirty="0"/>
              <a:t>: Construction </a:t>
            </a:r>
            <a:r>
              <a:rPr lang="de-DE" sz="1100" dirty="0" err="1"/>
              <a:t>process</a:t>
            </a:r>
            <a:r>
              <a:rPr lang="de-DE" sz="1100" dirty="0"/>
              <a:t> </a:t>
            </a:r>
            <a:r>
              <a:rPr lang="de-DE" sz="1100" dirty="0" err="1"/>
              <a:t>analysis</a:t>
            </a:r>
            <a:r>
              <a:rPr lang="de-DE" sz="1100" dirty="0"/>
              <a:t> </a:t>
            </a:r>
            <a:r>
              <a:rPr lang="de-DE" sz="1100" dirty="0" err="1"/>
              <a:t>through</a:t>
            </a:r>
            <a:r>
              <a:rPr lang="de-DE" sz="1100" dirty="0"/>
              <a:t> </a:t>
            </a:r>
            <a:r>
              <a:rPr lang="de-DE" sz="1100" dirty="0" err="1"/>
              <a:t>continuous</a:t>
            </a:r>
            <a:r>
              <a:rPr lang="de-DE" sz="1100" dirty="0"/>
              <a:t> </a:t>
            </a:r>
            <a:r>
              <a:rPr lang="de-DE" sz="1100" dirty="0" err="1"/>
              <a:t>image</a:t>
            </a:r>
            <a:r>
              <a:rPr lang="de-DE" sz="1100" dirty="0"/>
              <a:t> </a:t>
            </a:r>
            <a:r>
              <a:rPr lang="de-DE" sz="1100" dirty="0" err="1"/>
              <a:t>capturing</a:t>
            </a:r>
            <a:r>
              <a:rPr lang="de-DE" sz="1100" dirty="0"/>
              <a:t>, </a:t>
            </a:r>
            <a:r>
              <a:rPr lang="de-DE" sz="1100" dirty="0" err="1"/>
              <a:t>object</a:t>
            </a:r>
            <a:r>
              <a:rPr lang="de-DE" sz="1100" dirty="0"/>
              <a:t> </a:t>
            </a:r>
            <a:r>
              <a:rPr lang="de-DE" sz="1100" dirty="0" err="1"/>
              <a:t>detection</a:t>
            </a:r>
            <a:r>
              <a:rPr lang="de-DE" sz="1100" dirty="0"/>
              <a:t>, and </a:t>
            </a:r>
            <a:r>
              <a:rPr lang="de-DE" sz="1100" dirty="0" err="1"/>
              <a:t>knowledge</a:t>
            </a:r>
            <a:r>
              <a:rPr lang="de-DE" sz="1100" dirty="0"/>
              <a:t> </a:t>
            </a:r>
            <a:r>
              <a:rPr lang="de-DE" sz="1100" dirty="0" err="1"/>
              <a:t>graph</a:t>
            </a:r>
            <a:r>
              <a:rPr lang="de-DE" sz="1100" dirty="0"/>
              <a:t> </a:t>
            </a:r>
            <a:r>
              <a:rPr lang="de-DE" sz="1100" dirty="0" err="1"/>
              <a:t>creation</a:t>
            </a:r>
            <a:r>
              <a:rPr lang="de-DE" sz="1100" dirty="0"/>
              <a:t>”. In: Automation in Construction 164 (Aug. 2024), S. 105451.issn: 0926-5805. </a:t>
            </a:r>
            <a:r>
              <a:rPr lang="de-DE" sz="1100" dirty="0" err="1"/>
              <a:t>doi</a:t>
            </a:r>
            <a:r>
              <a:rPr lang="de-DE" sz="1100" dirty="0"/>
              <a:t>: 10.1016/j.autcon.2024.105451</a:t>
            </a:r>
          </a:p>
          <a:p>
            <a:pPr>
              <a:spcBef>
                <a:spcPts val="600"/>
              </a:spcBef>
            </a:pPr>
            <a:r>
              <a:rPr lang="de-DE" sz="1100" dirty="0"/>
              <a:t>[2] Heiner Ludwig, Thorsten Schmidt und Mathias Kühn. “An </a:t>
            </a:r>
            <a:r>
              <a:rPr lang="de-DE" sz="1100" dirty="0" err="1"/>
              <a:t>ontology-based</a:t>
            </a:r>
            <a:r>
              <a:rPr lang="de-DE" sz="1100" dirty="0"/>
              <a:t> </a:t>
            </a:r>
            <a:r>
              <a:rPr lang="de-DE" sz="1100" dirty="0" err="1"/>
              <a:t>retrieval</a:t>
            </a:r>
            <a:r>
              <a:rPr lang="de-DE" sz="1100" dirty="0"/>
              <a:t> </a:t>
            </a:r>
            <a:r>
              <a:rPr lang="de-DE" sz="1100" dirty="0" err="1"/>
              <a:t>augmented</a:t>
            </a:r>
            <a:r>
              <a:rPr lang="de-DE" sz="1100" dirty="0"/>
              <a:t> </a:t>
            </a:r>
            <a:r>
              <a:rPr lang="de-DE" sz="1100" dirty="0" err="1"/>
              <a:t>generation</a:t>
            </a:r>
            <a:r>
              <a:rPr lang="de-DE" sz="1100" dirty="0"/>
              <a:t> </a:t>
            </a:r>
            <a:r>
              <a:rPr lang="de-DE" sz="1100" dirty="0" err="1"/>
              <a:t>procedure</a:t>
            </a:r>
            <a:r>
              <a:rPr lang="de-DE" sz="1100" dirty="0"/>
              <a:t> </a:t>
            </a:r>
            <a:r>
              <a:rPr lang="de-DE" sz="1100" dirty="0" err="1"/>
              <a:t>for</a:t>
            </a:r>
            <a:r>
              <a:rPr lang="de-DE" sz="1100" dirty="0"/>
              <a:t> a </a:t>
            </a:r>
            <a:r>
              <a:rPr lang="de-DE" sz="1100" dirty="0" err="1"/>
              <a:t>voice-controlled</a:t>
            </a:r>
            <a:r>
              <a:rPr lang="de-DE" sz="1100" dirty="0"/>
              <a:t> </a:t>
            </a:r>
            <a:r>
              <a:rPr lang="de-DE" sz="1100" dirty="0" err="1"/>
              <a:t>maintenance</a:t>
            </a:r>
            <a:r>
              <a:rPr lang="de-DE" sz="1100" dirty="0"/>
              <a:t> </a:t>
            </a:r>
            <a:r>
              <a:rPr lang="de-DE" sz="1100" dirty="0" err="1"/>
              <a:t>assistant</a:t>
            </a:r>
            <a:r>
              <a:rPr lang="de-DE" sz="1100" dirty="0"/>
              <a:t>”. In: Computers in Industry 169 (Aug. 2025), S. 104289. </a:t>
            </a:r>
            <a:r>
              <a:rPr lang="de-DE" sz="1100" dirty="0" err="1"/>
              <a:t>issn</a:t>
            </a:r>
            <a:r>
              <a:rPr lang="de-DE" sz="1100" dirty="0"/>
              <a:t>: 0166-3615. </a:t>
            </a:r>
            <a:r>
              <a:rPr lang="de-DE" sz="1100" dirty="0" err="1"/>
              <a:t>doi</a:t>
            </a:r>
            <a:r>
              <a:rPr lang="de-DE" sz="1100" dirty="0"/>
              <a:t>: 10.1016/j.compind.2025.104289.</a:t>
            </a:r>
          </a:p>
        </p:txBody>
      </p:sp>
    </p:spTree>
    <p:extLst>
      <p:ext uri="{BB962C8B-B14F-4D97-AF65-F5344CB8AC3E}">
        <p14:creationId xmlns:p14="http://schemas.microsoft.com/office/powerpoint/2010/main" val="3737127131"/>
      </p:ext>
    </p:extLst>
  </p:cSld>
  <p:clrMapOvr>
    <a:masterClrMapping/>
  </p:clrMapOvr>
</p:sld>
</file>

<file path=ppt/theme/theme1.xml><?xml version="1.0" encoding="utf-8"?>
<a:theme xmlns:a="http://schemas.openxmlformats.org/drawingml/2006/main" name="TUD_2018_16zu9">
  <a:themeElements>
    <a:clrScheme name="TUD_2021-08_grün">
      <a:dk1>
        <a:srgbClr val="000000"/>
      </a:dk1>
      <a:lt1>
        <a:sysClr val="window" lastClr="FFFFFF"/>
      </a:lt1>
      <a:dk2>
        <a:srgbClr val="727277"/>
      </a:dk2>
      <a:lt2>
        <a:srgbClr val="FFFFFF"/>
      </a:lt2>
      <a:accent1>
        <a:srgbClr val="00305D"/>
      </a:accent1>
      <a:accent2>
        <a:srgbClr val="0069B4"/>
      </a:accent2>
      <a:accent3>
        <a:srgbClr val="009FE3"/>
      </a:accent3>
      <a:accent4>
        <a:srgbClr val="008244"/>
      </a:accent4>
      <a:accent5>
        <a:srgbClr val="65B32E"/>
      </a:accent5>
      <a:accent6>
        <a:srgbClr val="94C356"/>
      </a:accent6>
      <a:hlink>
        <a:srgbClr val="0069B4"/>
      </a:hlink>
      <a:folHlink>
        <a:srgbClr val="009FE3"/>
      </a:folHlink>
    </a:clrScheme>
    <a:fontScheme name="TUD_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2.06_TUD_PPT_16zu9_Vorlage.potx" id="{294745C1-E1BC-44C1-8C9D-B4CB23BDF171}" vid="{41010231-A741-4371-A565-9EF1890B6372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1165</Words>
  <Application>Microsoft Office PowerPoint</Application>
  <PresentationFormat>Breitbild</PresentationFormat>
  <Paragraphs>203</Paragraphs>
  <Slides>30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30</vt:i4>
      </vt:variant>
    </vt:vector>
  </HeadingPairs>
  <TitlesOfParts>
    <vt:vector size="36" baseType="lpstr">
      <vt:lpstr>Wingdings</vt:lpstr>
      <vt:lpstr>Arial</vt:lpstr>
      <vt:lpstr>Symbol</vt:lpstr>
      <vt:lpstr>Calibri</vt:lpstr>
      <vt:lpstr>Open Sans</vt:lpstr>
      <vt:lpstr>TUD_2018_16zu9</vt:lpstr>
      <vt:lpstr>Bachelorarbeit Verteidigung</vt:lpstr>
      <vt:lpstr>Motivation und Aufgabenstellung</vt:lpstr>
      <vt:lpstr>Überblick über das Gesamtsystem</vt:lpstr>
      <vt:lpstr>Zielsetzung</vt:lpstr>
      <vt:lpstr>Aktueller Stand der Technik Automatisierte Wissensgrapherstellung</vt:lpstr>
      <vt:lpstr>Methodik</vt:lpstr>
      <vt:lpstr>Methodik Anforderungen</vt:lpstr>
      <vt:lpstr>Methodik Wissensgraphmodellierungen</vt:lpstr>
      <vt:lpstr>Methodik Wissensgraphmodellierungen</vt:lpstr>
      <vt:lpstr>Methodik Wissensgraphmodellierungen</vt:lpstr>
      <vt:lpstr>Methodik Wissensgraphmodellierungen</vt:lpstr>
      <vt:lpstr>Methodik Wissensgraphmodellierungen</vt:lpstr>
      <vt:lpstr>Methodik Wissensgraphmodellierungen</vt:lpstr>
      <vt:lpstr>Methodik Relationsermittlung</vt:lpstr>
      <vt:lpstr>Methodik Multi-Cam-Modus</vt:lpstr>
      <vt:lpstr>Methodik Transformation zu Tripeltext</vt:lpstr>
      <vt:lpstr>Evaluation</vt:lpstr>
      <vt:lpstr>Evaluation Evaluationskriterien</vt:lpstr>
      <vt:lpstr>Evaluation Evaluationsaufbau</vt:lpstr>
      <vt:lpstr>Evaluation Evaluationsergebnisse</vt:lpstr>
      <vt:lpstr>Evaluation Evaluationsergebnisse</vt:lpstr>
      <vt:lpstr>Diskussion</vt:lpstr>
      <vt:lpstr>Diskussion Limitationen und methodische Herausforderungen</vt:lpstr>
      <vt:lpstr>Diskussion Beantwortung der Forschungsfragen</vt:lpstr>
      <vt:lpstr>Diskussion Beantwortung der Forschungsfragen</vt:lpstr>
      <vt:lpstr>Diskussion Beantwortung der Forschungsfragen</vt:lpstr>
      <vt:lpstr>Diskussion Mögliche Weiterentwicklung</vt:lpstr>
      <vt:lpstr>Zusammenfassung / Distributionen</vt:lpstr>
      <vt:lpstr>Vielen Dank!</vt:lpstr>
      <vt:lpstr>Quellen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Präsentationsvorlagen</dc:title>
  <dc:subject>Präsentationsvorlage</dc:subject>
  <dc:creator>cd@tu-dresden.de</dc:creator>
  <cp:lastModifiedBy>Robin Morgenstern</cp:lastModifiedBy>
  <cp:revision>72</cp:revision>
  <dcterms:created xsi:type="dcterms:W3CDTF">2021-12-16T17:30:27Z</dcterms:created>
  <dcterms:modified xsi:type="dcterms:W3CDTF">2025-10-28T10:03:22Z</dcterms:modified>
</cp:coreProperties>
</file>